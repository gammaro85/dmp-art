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26" r:id="rId2"/>
    <p:sldMasterId id="2147483714" r:id="rId3"/>
  </p:sldMasterIdLst>
  <p:notesMasterIdLst>
    <p:notesMasterId r:id="rId11"/>
  </p:notesMasterIdLst>
  <p:handoutMasterIdLst>
    <p:handoutMasterId r:id="rId12"/>
  </p:handoutMasterIdLst>
  <p:sldIdLst>
    <p:sldId id="387" r:id="rId4"/>
    <p:sldId id="285" r:id="rId5"/>
    <p:sldId id="449" r:id="rId6"/>
    <p:sldId id="451" r:id="rId7"/>
    <p:sldId id="453" r:id="rId8"/>
    <p:sldId id="454" r:id="rId9"/>
    <p:sldId id="334" r:id="rId10"/>
  </p:sldIdLst>
  <p:sldSz cx="12192000" cy="6858000"/>
  <p:notesSz cx="6858000" cy="9926638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878C"/>
    <a:srgbClr val="F6B4B7"/>
    <a:srgbClr val="F8C0C3"/>
    <a:srgbClr val="203864"/>
    <a:srgbClr val="013766"/>
    <a:srgbClr val="43AFC0"/>
    <a:srgbClr val="FFFFFF"/>
    <a:srgbClr val="43BB8D"/>
    <a:srgbClr val="70AD47"/>
    <a:srgbClr val="006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A863C-BB6F-4E07-8399-E4E3B03D7675}" v="1" dt="2025-05-19T07:55:31.966"/>
    <p1510:client id="{AAA81295-625E-EA2D-77F5-4012BEFA7B7E}" v="44" dt="2025-05-20T06:54:23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56" y="56"/>
      </p:cViewPr>
      <p:guideLst>
        <p:guide pos="3840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Seria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4E-4EEE-9C2B-2142C1D48FA9}"/>
            </c:ext>
          </c:extLst>
        </c:ser>
        <c:ser>
          <c:idx val="1"/>
          <c:order val="1"/>
          <c:tx>
            <c:strRef>
              <c:f>Arkusz1!$C$1</c:f>
              <c:strCache>
                <c:ptCount val="1"/>
                <c:pt idx="0">
                  <c:v>Seria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Arkusz1!$C$2:$C$5</c:f>
              <c:numCache>
                <c:formatCode>General</c:formatCode>
                <c:ptCount val="4"/>
                <c:pt idx="0">
                  <c:v>2.4</c:v>
                </c:pt>
                <c:pt idx="1">
                  <c:v>8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4E-4EEE-9C2B-2142C1D48FA9}"/>
            </c:ext>
          </c:extLst>
        </c:ser>
        <c:ser>
          <c:idx val="2"/>
          <c:order val="2"/>
          <c:tx>
            <c:strRef>
              <c:f>Arkusz1!$D$1</c:f>
              <c:strCache>
                <c:ptCount val="1"/>
                <c:pt idx="0">
                  <c:v>Seria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4E-4EEE-9C2B-2142C1D48F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64005200"/>
        <c:axId val="364005584"/>
      </c:barChart>
      <c:catAx>
        <c:axId val="3640052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pl-PL" sz="900" b="0" i="0" u="none" strike="noStrike" kern="1200" baseline="0">
                <a:solidFill>
                  <a:srgbClr val="003767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pl-PL"/>
          </a:p>
        </c:txPr>
        <c:crossAx val="364005584"/>
        <c:crosses val="autoZero"/>
        <c:auto val="1"/>
        <c:lblAlgn val="ctr"/>
        <c:lblOffset val="100"/>
        <c:noMultiLvlLbl val="0"/>
      </c:catAx>
      <c:valAx>
        <c:axId val="364005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pl-PL" sz="900" b="0" i="0" u="none" strike="noStrike" kern="1200" baseline="0">
                <a:solidFill>
                  <a:srgbClr val="003767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pl-PL"/>
          </a:p>
        </c:txPr>
        <c:crossAx val="364005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pl-PL" sz="900" b="0" i="0" u="none" strike="noStrike" kern="1200" baseline="0">
              <a:solidFill>
                <a:srgbClr val="00376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pl-PL" sz="900" baseline="0">
          <a:solidFill>
            <a:srgbClr val="003767"/>
          </a:solidFill>
          <a:latin typeface="Arial" panose="020B0604020202020204" pitchFamily="34" charset="0"/>
        </a:defRPr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Arkusz1!$B$1</c:f>
              <c:strCache>
                <c:ptCount val="1"/>
                <c:pt idx="0">
                  <c:v>Sprzedaż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D244-4067-84C8-69BA5D19A51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244-4067-84C8-69BA5D19A51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D244-4067-84C8-69BA5D19A515}"/>
              </c:ext>
            </c:extLst>
          </c:dPt>
          <c:dPt>
            <c:idx val="3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244-4067-84C8-69BA5D19A515}"/>
              </c:ext>
            </c:extLst>
          </c:dPt>
          <c:cat>
            <c:strRef>
              <c:f>Arkusz1!$A$2:$A$5</c:f>
              <c:strCache>
                <c:ptCount val="4"/>
                <c:pt idx="0">
                  <c:v>1. kwartał</c:v>
                </c:pt>
                <c:pt idx="1">
                  <c:v>2. kwartał</c:v>
                </c:pt>
                <c:pt idx="2">
                  <c:v>3. kwartał</c:v>
                </c:pt>
                <c:pt idx="3">
                  <c:v>4. kwartał</c:v>
                </c:pt>
              </c:strCache>
            </c:strRef>
          </c:cat>
          <c:val>
            <c:numRef>
              <c:f>Arkusz1!$B$2:$B$5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44-4067-84C8-69BA5D19A5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76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pl-PL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2" y="6"/>
            <a:ext cx="2971800" cy="498056"/>
          </a:xfrm>
          <a:prstGeom prst="rect">
            <a:avLst/>
          </a:prstGeom>
        </p:spPr>
        <p:txBody>
          <a:bodyPr vert="horz" lIns="91302" tIns="45650" rIns="91302" bIns="45650" rtlCol="0"/>
          <a:lstStyle>
            <a:lvl1pPr algn="l">
              <a:defRPr sz="10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8" y="6"/>
            <a:ext cx="2971800" cy="498056"/>
          </a:xfrm>
          <a:prstGeom prst="rect">
            <a:avLst/>
          </a:prstGeom>
        </p:spPr>
        <p:txBody>
          <a:bodyPr vert="horz" lIns="91302" tIns="45650" rIns="91302" bIns="45650" rtlCol="0"/>
          <a:lstStyle>
            <a:lvl1pPr algn="r">
              <a:defRPr sz="1000"/>
            </a:lvl1pPr>
          </a:lstStyle>
          <a:p>
            <a:fld id="{832C9209-3986-4F4F-9798-10F567A8CCA9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2" y="9428589"/>
            <a:ext cx="2971800" cy="498056"/>
          </a:xfrm>
          <a:prstGeom prst="rect">
            <a:avLst/>
          </a:prstGeom>
        </p:spPr>
        <p:txBody>
          <a:bodyPr vert="horz" lIns="91302" tIns="45650" rIns="91302" bIns="45650" rtlCol="0" anchor="b"/>
          <a:lstStyle>
            <a:lvl1pPr algn="l">
              <a:defRPr sz="10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8" y="9428589"/>
            <a:ext cx="2971800" cy="498056"/>
          </a:xfrm>
          <a:prstGeom prst="rect">
            <a:avLst/>
          </a:prstGeom>
        </p:spPr>
        <p:txBody>
          <a:bodyPr vert="horz" lIns="91302" tIns="45650" rIns="91302" bIns="45650" rtlCol="0" anchor="b"/>
          <a:lstStyle>
            <a:lvl1pPr algn="r">
              <a:defRPr sz="1000"/>
            </a:lvl1pPr>
          </a:lstStyle>
          <a:p>
            <a:fld id="{3D69ED95-A86B-4031-854D-4CD9141382AC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2402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2" y="6"/>
            <a:ext cx="2971800" cy="498056"/>
          </a:xfrm>
          <a:prstGeom prst="rect">
            <a:avLst/>
          </a:prstGeom>
        </p:spPr>
        <p:txBody>
          <a:bodyPr vert="horz" lIns="91302" tIns="45650" rIns="91302" bIns="45650" rtlCol="0"/>
          <a:lstStyle>
            <a:lvl1pPr algn="l">
              <a:defRPr sz="10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8" y="6"/>
            <a:ext cx="2971800" cy="498056"/>
          </a:xfrm>
          <a:prstGeom prst="rect">
            <a:avLst/>
          </a:prstGeom>
        </p:spPr>
        <p:txBody>
          <a:bodyPr vert="horz" lIns="91302" tIns="45650" rIns="91302" bIns="45650" rtlCol="0"/>
          <a:lstStyle>
            <a:lvl1pPr algn="r">
              <a:defRPr sz="1000"/>
            </a:lvl1pPr>
          </a:lstStyle>
          <a:p>
            <a:fld id="{C0A77C91-10B1-43B2-BE9C-19E168F96446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447675" y="1239838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02" tIns="45650" rIns="91302" bIns="4565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1" y="4777195"/>
            <a:ext cx="5486400" cy="3908614"/>
          </a:xfrm>
          <a:prstGeom prst="rect">
            <a:avLst/>
          </a:prstGeom>
        </p:spPr>
        <p:txBody>
          <a:bodyPr vert="horz" lIns="91302" tIns="45650" rIns="91302" bIns="4565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2" y="9428589"/>
            <a:ext cx="2971800" cy="498056"/>
          </a:xfrm>
          <a:prstGeom prst="rect">
            <a:avLst/>
          </a:prstGeom>
        </p:spPr>
        <p:txBody>
          <a:bodyPr vert="horz" lIns="91302" tIns="45650" rIns="91302" bIns="45650" rtlCol="0" anchor="b"/>
          <a:lstStyle>
            <a:lvl1pPr algn="l">
              <a:defRPr sz="10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8" y="9428589"/>
            <a:ext cx="2971800" cy="498056"/>
          </a:xfrm>
          <a:prstGeom prst="rect">
            <a:avLst/>
          </a:prstGeom>
        </p:spPr>
        <p:txBody>
          <a:bodyPr vert="horz" lIns="91302" tIns="45650" rIns="91302" bIns="45650" rtlCol="0" anchor="b"/>
          <a:lstStyle>
            <a:lvl1pPr algn="r">
              <a:defRPr sz="1000"/>
            </a:lvl1pPr>
          </a:lstStyle>
          <a:p>
            <a:fld id="{86DFD56A-32A1-4D9A-BC80-736493FF959D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86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FD56A-32A1-4D9A-BC80-736493FF959D}" type="slidenum">
              <a:rPr lang="pl-PL" smtClean="0"/>
              <a:pPr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1384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FD56A-32A1-4D9A-BC80-736493FF959D}" type="slidenum">
              <a:rPr lang="pl-PL" smtClean="0"/>
              <a:pPr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3270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FD56A-32A1-4D9A-BC80-736493FF959D}" type="slidenum">
              <a:rPr lang="pl-PL" smtClean="0"/>
              <a:pPr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2290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FD56A-32A1-4D9A-BC80-736493FF959D}" type="slidenum">
              <a:rPr lang="pl-PL" smtClean="0"/>
              <a:pPr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1754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FD56A-32A1-4D9A-BC80-736493FF959D}" type="slidenum">
              <a:rPr lang="pl-PL" smtClean="0"/>
              <a:pPr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0485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FD56A-32A1-4D9A-BC80-736493FF959D}" type="slidenum">
              <a:rPr lang="pl-PL" smtClean="0"/>
              <a:pPr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8697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Excel_Worksheet2.xlsx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bg>
      <p:bgPr>
        <a:solidFill>
          <a:srgbClr val="003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az 13" descr="pg_logo_bialy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567" y="1595000"/>
            <a:ext cx="2996855" cy="1625600"/>
          </a:xfrm>
          <a:prstGeom prst="rect">
            <a:avLst/>
          </a:prstGeom>
        </p:spPr>
      </p:pic>
      <p:sp>
        <p:nvSpPr>
          <p:cNvPr id="12" name="Tytuł 1"/>
          <p:cNvSpPr>
            <a:spLocks noGrp="1"/>
          </p:cNvSpPr>
          <p:nvPr>
            <p:ph type="title"/>
          </p:nvPr>
        </p:nvSpPr>
        <p:spPr>
          <a:xfrm>
            <a:off x="2409600" y="4406901"/>
            <a:ext cx="7420800" cy="1362075"/>
          </a:xfrm>
        </p:spPr>
        <p:txBody>
          <a:bodyPr anchor="t">
            <a:normAutofit/>
          </a:bodyPr>
          <a:lstStyle>
            <a:lvl1pPr algn="ctr">
              <a:defRPr sz="2600" b="0" cap="none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9" name="Symbol zastępczy tekstu 8"/>
          <p:cNvSpPr>
            <a:spLocks noGrp="1"/>
          </p:cNvSpPr>
          <p:nvPr>
            <p:ph type="body" sz="quarter" idx="10"/>
          </p:nvPr>
        </p:nvSpPr>
        <p:spPr>
          <a:xfrm>
            <a:off x="2409601" y="5615473"/>
            <a:ext cx="7420800" cy="355478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latin typeface="+mj-lt"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217226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039805" y="536730"/>
            <a:ext cx="6152196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817298"/>
            <a:ext cx="9144000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pic>
        <p:nvPicPr>
          <p:cNvPr id="8" name="Obraz 2" descr="Bez nazwy-10.pd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ytuł 1"/>
          <p:cNvSpPr txBox="1">
            <a:spLocks/>
          </p:cNvSpPr>
          <p:nvPr userDrawn="1"/>
        </p:nvSpPr>
        <p:spPr>
          <a:xfrm>
            <a:off x="0" y="1431395"/>
            <a:ext cx="12192000" cy="794956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252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6" name="Symbol zastępczy tekstu 5"/>
          <p:cNvSpPr>
            <a:spLocks noGrp="1"/>
          </p:cNvSpPr>
          <p:nvPr>
            <p:ph type="body" sz="quarter" idx="10"/>
          </p:nvPr>
        </p:nvSpPr>
        <p:spPr>
          <a:xfrm>
            <a:off x="697361" y="1687761"/>
            <a:ext cx="5585883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12" name="Łącznik prosty 11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72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D20926-FAA8-4AA4-A9AD-BE5E3351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4635D99-67DE-44D5-BCF3-1FD2FA48B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0342D-BFEB-4330-B4F3-C064C2945100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112BD1D-409A-450D-8C4B-E784F760B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5661563-0589-4FFC-9FCF-57FA5BDA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979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>
            <a:spLocks noGrp="1"/>
          </p:cNvSpPr>
          <p:nvPr>
            <p:ph type="ctrTitle"/>
          </p:nvPr>
        </p:nvSpPr>
        <p:spPr>
          <a:xfrm>
            <a:off x="3349451" y="536729"/>
            <a:ext cx="4614147" cy="281637"/>
          </a:xfrm>
        </p:spPr>
        <p:txBody>
          <a:bodyPr anchor="t">
            <a:noAutofit/>
          </a:bodyPr>
          <a:lstStyle>
            <a:lvl1pPr algn="l"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11" name="Łącznik prosty 10"/>
          <p:cNvCxnSpPr/>
          <p:nvPr userDrawn="1"/>
        </p:nvCxnSpPr>
        <p:spPr>
          <a:xfrm>
            <a:off x="3062413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raz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30" b="36363"/>
          <a:stretch/>
        </p:blipFill>
        <p:spPr>
          <a:xfrm>
            <a:off x="1273028" y="432012"/>
            <a:ext cx="1757636" cy="711512"/>
          </a:xfrm>
          <a:prstGeom prst="rect">
            <a:avLst/>
          </a:prstGeom>
        </p:spPr>
      </p:pic>
      <p:pic>
        <p:nvPicPr>
          <p:cNvPr id="10" name="Obraz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28" y="567548"/>
            <a:ext cx="680520" cy="40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5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Wykres 27"/>
          <p:cNvGraphicFramePr/>
          <p:nvPr userDrawn="1">
            <p:extLst>
              <p:ext uri="{D42A27DB-BD31-4B8C-83A1-F6EECF244321}">
                <p14:modId xmlns:p14="http://schemas.microsoft.com/office/powerpoint/2010/main" val="4085736609"/>
              </p:ext>
            </p:extLst>
          </p:nvPr>
        </p:nvGraphicFramePr>
        <p:xfrm>
          <a:off x="1030433" y="2534935"/>
          <a:ext cx="10232652" cy="3473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ytuł 1"/>
          <p:cNvSpPr txBox="1">
            <a:spLocks/>
          </p:cNvSpPr>
          <p:nvPr userDrawn="1"/>
        </p:nvSpPr>
        <p:spPr>
          <a:xfrm>
            <a:off x="1" y="1439142"/>
            <a:ext cx="7053943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sp>
        <p:nvSpPr>
          <p:cNvPr id="7" name="Tytuł 1"/>
          <p:cNvSpPr>
            <a:spLocks noGrp="1"/>
          </p:cNvSpPr>
          <p:nvPr>
            <p:ph type="ctrTitle"/>
          </p:nvPr>
        </p:nvSpPr>
        <p:spPr>
          <a:xfrm>
            <a:off x="6039805" y="536730"/>
            <a:ext cx="6152196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pic>
        <p:nvPicPr>
          <p:cNvPr id="8" name="Obraz 2" descr="Bez nazwy-10.pdf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Obraz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10" name="Łącznik prosty 9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05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1" y="1439142"/>
            <a:ext cx="7053943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graphicFrame>
        <p:nvGraphicFramePr>
          <p:cNvPr id="5" name="Wykres 4"/>
          <p:cNvGraphicFramePr/>
          <p:nvPr userDrawn="1">
            <p:extLst>
              <p:ext uri="{D42A27DB-BD31-4B8C-83A1-F6EECF244321}">
                <p14:modId xmlns:p14="http://schemas.microsoft.com/office/powerpoint/2010/main" val="173845463"/>
              </p:ext>
            </p:extLst>
          </p:nvPr>
        </p:nvGraphicFramePr>
        <p:xfrm>
          <a:off x="634221" y="2606400"/>
          <a:ext cx="5932800" cy="296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ymbol zastępczy wykresu 2"/>
          <p:cNvSpPr>
            <a:spLocks noGrp="1"/>
          </p:cNvSpPr>
          <p:nvPr>
            <p:ph type="chart" sz="quarter" idx="10"/>
          </p:nvPr>
        </p:nvSpPr>
        <p:spPr>
          <a:xfrm>
            <a:off x="7247467" y="2254251"/>
            <a:ext cx="4686300" cy="305911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697361" y="1476743"/>
            <a:ext cx="5585883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sp>
        <p:nvSpPr>
          <p:cNvPr id="8" name="Tytuł 1"/>
          <p:cNvSpPr>
            <a:spLocks noGrp="1"/>
          </p:cNvSpPr>
          <p:nvPr>
            <p:ph type="ctrTitle"/>
          </p:nvPr>
        </p:nvSpPr>
        <p:spPr>
          <a:xfrm>
            <a:off x="6039805" y="536730"/>
            <a:ext cx="6152196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pic>
        <p:nvPicPr>
          <p:cNvPr id="10" name="Obraz 2" descr="Bez nazwy-10.pdf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Obraz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14" name="Łącznik prosty 13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84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1" y="1439142"/>
            <a:ext cx="7053943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3" name="Symbol zastępczy wykresu 2"/>
          <p:cNvSpPr>
            <a:spLocks noGrp="1"/>
          </p:cNvSpPr>
          <p:nvPr>
            <p:ph type="chart" sz="quarter" idx="10"/>
          </p:nvPr>
        </p:nvSpPr>
        <p:spPr>
          <a:xfrm>
            <a:off x="1183821" y="2704771"/>
            <a:ext cx="4686300" cy="305911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697361" y="1476743"/>
            <a:ext cx="5585883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sp>
        <p:nvSpPr>
          <p:cNvPr id="7" name="Tytuł 1"/>
          <p:cNvSpPr>
            <a:spLocks noGrp="1"/>
          </p:cNvSpPr>
          <p:nvPr>
            <p:ph type="ctrTitle"/>
          </p:nvPr>
        </p:nvSpPr>
        <p:spPr>
          <a:xfrm>
            <a:off x="6039805" y="536730"/>
            <a:ext cx="6152196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pic>
        <p:nvPicPr>
          <p:cNvPr id="8" name="Obraz 2" descr="Bez nazwy-10.pd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Obraz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13" name="Łącznik prosty 12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818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iekt 6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323268196"/>
              </p:ext>
            </p:extLst>
          </p:nvPr>
        </p:nvGraphicFramePr>
        <p:xfrm>
          <a:off x="1121833" y="2517775"/>
          <a:ext cx="6292851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rkusz" r:id="rId2" imgW="3057635" imgH="1304857" progId="Excel.Sheet.12">
                  <p:embed/>
                </p:oleObj>
              </mc:Choice>
              <mc:Fallback>
                <p:oleObj name="Arkusz" r:id="rId2" imgW="3057635" imgH="1304857" progId="Excel.Sheet.12">
                  <p:embed/>
                  <p:pic>
                    <p:nvPicPr>
                      <p:cNvPr id="0" name="Picture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833" y="2517775"/>
                        <a:ext cx="6292851" cy="2012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003767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ytuł 1"/>
          <p:cNvSpPr txBox="1">
            <a:spLocks/>
          </p:cNvSpPr>
          <p:nvPr userDrawn="1"/>
        </p:nvSpPr>
        <p:spPr>
          <a:xfrm>
            <a:off x="1" y="1439142"/>
            <a:ext cx="7053943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pic>
        <p:nvPicPr>
          <p:cNvPr id="14" name="Obraz 1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1"/>
            <a:ext cx="3934293" cy="493819"/>
          </a:xfrm>
          <a:prstGeom prst="rect">
            <a:avLst/>
          </a:prstGeom>
        </p:spPr>
      </p:pic>
      <p:sp>
        <p:nvSpPr>
          <p:cNvPr id="8" name="Tytuł 1"/>
          <p:cNvSpPr>
            <a:spLocks noGrp="1"/>
          </p:cNvSpPr>
          <p:nvPr>
            <p:ph type="ctrTitle"/>
          </p:nvPr>
        </p:nvSpPr>
        <p:spPr>
          <a:xfrm>
            <a:off x="6039805" y="536730"/>
            <a:ext cx="6152196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pic>
        <p:nvPicPr>
          <p:cNvPr id="9" name="Obraz 2" descr="Bez nazwy-10.pdf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Obraz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15" name="Łącznik prosty 14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174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1" y="1439142"/>
            <a:ext cx="7053943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697361" y="1476743"/>
            <a:ext cx="5585883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sp>
        <p:nvSpPr>
          <p:cNvPr id="4" name="Symbol zastępczy tabeli 3"/>
          <p:cNvSpPr>
            <a:spLocks noGrp="1"/>
          </p:cNvSpPr>
          <p:nvPr>
            <p:ph type="tbl" sz="quarter" idx="12"/>
          </p:nvPr>
        </p:nvSpPr>
        <p:spPr>
          <a:xfrm>
            <a:off x="697362" y="2368428"/>
            <a:ext cx="6136217" cy="389096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7" name="Tytuł 1"/>
          <p:cNvSpPr>
            <a:spLocks noGrp="1"/>
          </p:cNvSpPr>
          <p:nvPr>
            <p:ph type="ctrTitle"/>
          </p:nvPr>
        </p:nvSpPr>
        <p:spPr>
          <a:xfrm>
            <a:off x="6039805" y="536730"/>
            <a:ext cx="6152196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pic>
        <p:nvPicPr>
          <p:cNvPr id="8" name="Obraz 2" descr="Bez nazwy-10.pd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Obraz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13" name="Łącznik prosty 12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47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937200" y="2032438"/>
            <a:ext cx="9144000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0" y="4612936"/>
            <a:ext cx="3945600" cy="22510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800"/>
          </a:p>
        </p:txBody>
      </p:sp>
      <p:sp>
        <p:nvSpPr>
          <p:cNvPr id="13" name="Prostokąt 12"/>
          <p:cNvSpPr/>
          <p:nvPr userDrawn="1"/>
        </p:nvSpPr>
        <p:spPr>
          <a:xfrm>
            <a:off x="3945600" y="4612935"/>
            <a:ext cx="4339200" cy="22462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800"/>
          </a:p>
        </p:txBody>
      </p:sp>
      <p:sp>
        <p:nvSpPr>
          <p:cNvPr id="14" name="Prostokąt 13"/>
          <p:cNvSpPr/>
          <p:nvPr userDrawn="1"/>
        </p:nvSpPr>
        <p:spPr>
          <a:xfrm>
            <a:off x="8284800" y="4615266"/>
            <a:ext cx="3893853" cy="22462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800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952018" y="5548003"/>
            <a:ext cx="164796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6" name="Tytuł 1"/>
          <p:cNvSpPr txBox="1">
            <a:spLocks/>
          </p:cNvSpPr>
          <p:nvPr userDrawn="1"/>
        </p:nvSpPr>
        <p:spPr>
          <a:xfrm>
            <a:off x="5291218" y="5548003"/>
            <a:ext cx="164796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9474417" y="5548003"/>
            <a:ext cx="164796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1" name="Tytuł 1"/>
          <p:cNvSpPr>
            <a:spLocks noGrp="1"/>
          </p:cNvSpPr>
          <p:nvPr>
            <p:ph type="ctrTitle"/>
          </p:nvPr>
        </p:nvSpPr>
        <p:spPr>
          <a:xfrm>
            <a:off x="6039805" y="536730"/>
            <a:ext cx="6152196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pic>
        <p:nvPicPr>
          <p:cNvPr id="18" name="Obraz 2" descr="Bez nazwy-10.pd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Obraz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20" name="Łącznik prosty 19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73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4398433" y="1630250"/>
            <a:ext cx="6682767" cy="2057951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0" y="4310744"/>
            <a:ext cx="3945600" cy="255326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800"/>
          </a:p>
        </p:txBody>
      </p:sp>
      <p:sp>
        <p:nvSpPr>
          <p:cNvPr id="13" name="Prostokąt 12"/>
          <p:cNvSpPr/>
          <p:nvPr userDrawn="1"/>
        </p:nvSpPr>
        <p:spPr>
          <a:xfrm>
            <a:off x="0" y="1630249"/>
            <a:ext cx="3945600" cy="268049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800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952018" y="5548003"/>
            <a:ext cx="164796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6" name="Tytuł 1"/>
          <p:cNvSpPr txBox="1">
            <a:spLocks/>
          </p:cNvSpPr>
          <p:nvPr userDrawn="1"/>
        </p:nvSpPr>
        <p:spPr>
          <a:xfrm>
            <a:off x="952018" y="2714176"/>
            <a:ext cx="164796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9" name="Tytuł 1"/>
          <p:cNvSpPr>
            <a:spLocks noGrp="1"/>
          </p:cNvSpPr>
          <p:nvPr>
            <p:ph type="ctrTitle"/>
          </p:nvPr>
        </p:nvSpPr>
        <p:spPr>
          <a:xfrm>
            <a:off x="6039805" y="536730"/>
            <a:ext cx="6152196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pic>
        <p:nvPicPr>
          <p:cNvPr id="10" name="Obraz 2" descr="Bez nazwy-10.pd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Obraz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14" name="Łącznik prosty 13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434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996648" y="2618438"/>
            <a:ext cx="5982552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7276494" y="1490510"/>
            <a:ext cx="4915505" cy="26350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800"/>
          </a:p>
        </p:txBody>
      </p:sp>
      <p:sp>
        <p:nvSpPr>
          <p:cNvPr id="14" name="Prostokąt 13"/>
          <p:cNvSpPr/>
          <p:nvPr userDrawn="1"/>
        </p:nvSpPr>
        <p:spPr>
          <a:xfrm>
            <a:off x="7276493" y="4125600"/>
            <a:ext cx="4902160" cy="273587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800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8910262" y="2578683"/>
            <a:ext cx="164796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8903590" y="5337142"/>
            <a:ext cx="164796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21" name="Tytuł 1"/>
          <p:cNvSpPr txBox="1">
            <a:spLocks/>
          </p:cNvSpPr>
          <p:nvPr userDrawn="1"/>
        </p:nvSpPr>
        <p:spPr>
          <a:xfrm>
            <a:off x="1" y="1490511"/>
            <a:ext cx="7276492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sp>
        <p:nvSpPr>
          <p:cNvPr id="10" name="Tytuł 1"/>
          <p:cNvSpPr>
            <a:spLocks noGrp="1"/>
          </p:cNvSpPr>
          <p:nvPr>
            <p:ph type="ctrTitle"/>
          </p:nvPr>
        </p:nvSpPr>
        <p:spPr>
          <a:xfrm>
            <a:off x="6039805" y="536730"/>
            <a:ext cx="6152196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pic>
        <p:nvPicPr>
          <p:cNvPr id="11" name="Obraz 2" descr="Bez nazwy-10.pd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Obraz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16" name="Łącznik prosty 15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73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996648" y="2618438"/>
            <a:ext cx="5982552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8903590" y="5337142"/>
            <a:ext cx="164796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+mn-lt"/>
              </a:rPr>
              <a:t>foto</a:t>
            </a:r>
          </a:p>
        </p:txBody>
      </p:sp>
      <p:sp>
        <p:nvSpPr>
          <p:cNvPr id="10" name="Tytuł 1"/>
          <p:cNvSpPr txBox="1">
            <a:spLocks/>
          </p:cNvSpPr>
          <p:nvPr userDrawn="1"/>
        </p:nvSpPr>
        <p:spPr>
          <a:xfrm>
            <a:off x="1" y="1439142"/>
            <a:ext cx="7053943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11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697361" y="1476743"/>
            <a:ext cx="5585883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sp>
        <p:nvSpPr>
          <p:cNvPr id="4" name="Symbol zastępczy obrazu online 3"/>
          <p:cNvSpPr>
            <a:spLocks noGrp="1"/>
          </p:cNvSpPr>
          <p:nvPr>
            <p:ph type="clipArt" sz="quarter" idx="12"/>
          </p:nvPr>
        </p:nvSpPr>
        <p:spPr>
          <a:xfrm>
            <a:off x="7236342" y="1439863"/>
            <a:ext cx="4955657" cy="2616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16" name="Symbol zastępczy obrazu online 3"/>
          <p:cNvSpPr>
            <a:spLocks noGrp="1"/>
          </p:cNvSpPr>
          <p:nvPr>
            <p:ph type="clipArt" sz="quarter" idx="13"/>
          </p:nvPr>
        </p:nvSpPr>
        <p:spPr>
          <a:xfrm>
            <a:off x="7216938" y="4134339"/>
            <a:ext cx="4955657" cy="271236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13" name="Tytuł 1"/>
          <p:cNvSpPr>
            <a:spLocks noGrp="1"/>
          </p:cNvSpPr>
          <p:nvPr>
            <p:ph type="ctrTitle"/>
          </p:nvPr>
        </p:nvSpPr>
        <p:spPr>
          <a:xfrm>
            <a:off x="6039805" y="536730"/>
            <a:ext cx="6152196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pic>
        <p:nvPicPr>
          <p:cNvPr id="14" name="Obraz 2" descr="Bez nazwy-10.pd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Obraz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18" name="Łącznik prosty 17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00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/>
          <p:cNvSpPr>
            <a:spLocks noGrp="1"/>
          </p:cNvSpPr>
          <p:nvPr>
            <p:ph type="ctrTitle" hasCustomPrompt="1"/>
          </p:nvPr>
        </p:nvSpPr>
        <p:spPr>
          <a:xfrm>
            <a:off x="6016745" y="536730"/>
            <a:ext cx="6088855" cy="281637"/>
          </a:xfrm>
        </p:spPr>
        <p:txBody>
          <a:bodyPr anchor="t">
            <a:noAutofit/>
          </a:bodyPr>
          <a:lstStyle>
            <a:lvl1pPr algn="l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Podsumowanie</a:t>
            </a:r>
          </a:p>
        </p:txBody>
      </p:sp>
      <p:sp>
        <p:nvSpPr>
          <p:cNvPr id="14" name="Zaokrąglony prostokąt 12"/>
          <p:cNvSpPr/>
          <p:nvPr/>
        </p:nvSpPr>
        <p:spPr>
          <a:xfrm>
            <a:off x="2071016" y="4163012"/>
            <a:ext cx="8285811" cy="97483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Zaokrąglony prostokąt 15"/>
          <p:cNvSpPr/>
          <p:nvPr/>
        </p:nvSpPr>
        <p:spPr>
          <a:xfrm>
            <a:off x="2057269" y="2281289"/>
            <a:ext cx="8285811" cy="861477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Zaokrąglony prostokąt 18"/>
          <p:cNvSpPr/>
          <p:nvPr/>
        </p:nvSpPr>
        <p:spPr>
          <a:xfrm>
            <a:off x="2064629" y="3239589"/>
            <a:ext cx="8285811" cy="814387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3" name="Zaokrąglony prostokąt 21"/>
          <p:cNvSpPr/>
          <p:nvPr/>
        </p:nvSpPr>
        <p:spPr>
          <a:xfrm>
            <a:off x="2057269" y="1301624"/>
            <a:ext cx="8285811" cy="87542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Zaokrąglony prostokąt 24"/>
          <p:cNvSpPr/>
          <p:nvPr userDrawn="1"/>
        </p:nvSpPr>
        <p:spPr>
          <a:xfrm>
            <a:off x="2054083" y="5250193"/>
            <a:ext cx="8285811" cy="87542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Symbol zastępczy tekstu 2"/>
          <p:cNvSpPr>
            <a:spLocks noGrp="1"/>
          </p:cNvSpPr>
          <p:nvPr>
            <p:ph type="body" sz="quarter" idx="10"/>
          </p:nvPr>
        </p:nvSpPr>
        <p:spPr>
          <a:xfrm>
            <a:off x="2448168" y="1579565"/>
            <a:ext cx="6555317" cy="4619625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</p:txBody>
      </p:sp>
      <p:pic>
        <p:nvPicPr>
          <p:cNvPr id="11" name="Obraz 2" descr="Bez nazwy-10.pd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" t="13394" r="9949"/>
          <a:stretch/>
        </p:blipFill>
        <p:spPr bwMode="auto">
          <a:xfrm>
            <a:off x="182400" y="106724"/>
            <a:ext cx="3650765" cy="142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Obraz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54" y="474086"/>
            <a:ext cx="1330476" cy="598715"/>
          </a:xfrm>
          <a:prstGeom prst="rect">
            <a:avLst/>
          </a:prstGeom>
        </p:spPr>
      </p:pic>
      <p:cxnSp>
        <p:nvCxnSpPr>
          <p:cNvPr id="13" name="Łącznik prosty 12"/>
          <p:cNvCxnSpPr/>
          <p:nvPr userDrawn="1"/>
        </p:nvCxnSpPr>
        <p:spPr>
          <a:xfrm>
            <a:off x="5657087" y="581983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877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283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98" y="2332921"/>
            <a:ext cx="4668233" cy="2100705"/>
          </a:xfrm>
          <a:prstGeom prst="rect">
            <a:avLst/>
          </a:prstGeom>
        </p:spPr>
      </p:pic>
      <p:pic>
        <p:nvPicPr>
          <p:cNvPr id="2" name="Obraz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941" y="2494591"/>
            <a:ext cx="3173859" cy="168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36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29309A-BD00-41EC-9A54-F5F1C2B16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232DFE0-37E8-4345-BD8C-E9D3CBF3C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04F8EFB-6DC4-4D34-982E-3A96A08D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7D93B43-CCCA-4D3B-B442-99AC2B18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81796BC-4170-4A9C-A1C0-F28996DD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3318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ED00E8-6765-44EF-BB68-4DB7983D3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2F10EDB-9D0D-45DA-8BEC-31C8E5651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5645FF7-8377-4600-BF3D-18A51462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C6CFBCE-0AB1-4051-AB90-700AD9BDE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384B5B8-EBA2-40CE-B116-FD0A1900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5397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99803D-874C-4562-A099-C376D47F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E9CFB11-BB62-4E60-9D1E-BB826B137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1F183B6-66A3-4B02-83A3-D8C4CCEC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27B4B1D-D029-4114-B120-D0D3A583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C5F60F7-872F-4EAF-BD06-4E8611D1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7817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C5614D-D77C-4709-BF37-C7546FC46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AE99CE-BA6F-4CE3-AD51-FF40E562F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C79B5A7-4AAA-4F77-A946-98D82F0A2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27E722-DBE8-4AC1-8A41-C9F89E993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AD7DB4E-614A-465C-99B5-14F06DF6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72DF3C6-7885-4B0D-94FB-5E156086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75944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F56E1B-E874-4F4B-8D5A-9DE691197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CFF4608-17F9-42E1-AE6F-C72C997A6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6AB1C22-F98A-4349-9001-0818B3394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C97D04F-B228-43BB-BE1B-BC3F65807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85C3D02-E83E-48C5-919D-8B7CBC2A4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0FC793D-7807-4D83-AC2C-6662693B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AB5A532-1D57-4401-99B8-787FCB67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72BD27C-A1CC-4AD8-82DC-18DCC8E2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5370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D7A9DD-485A-41F5-8721-40C29DD1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C2F87E2-00A6-49E5-928C-DA3F054C4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A2E91131-4924-4066-B9CA-7D1F4226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ECA7C8B-4CBE-4324-BE41-85D87B63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0557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6AAC3A51-C33B-4747-AB42-C37966D1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DF7F47F-1081-4389-9235-0BF4D98B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397248E-F804-4E68-A69E-63A91158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81979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A7ECEA-5023-4978-ACD1-E1D23A16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CC21D18-14A9-4379-9143-76705695B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998C963-9B10-444A-9948-42089378D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BBE3B4C-31D3-41C5-91BD-76AB5796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87D4DAD-5499-4999-B5E8-5C36573E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3EC3FD2-4CC3-48DB-AE4E-7E0D78DBF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54193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D57B9A-AD85-4FBB-AB9D-954A0FCD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BD793AC-EFFD-47EF-86BE-C201F9085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21409D9-78E7-495A-9B31-FD857ECA1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67627BB-D2B3-4724-BDB7-9D730663E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19BBB8B-FE47-4F97-A038-7A1542F3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2F678B9-F824-4D4A-8626-363EC432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49654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BBC81B-1999-4A95-896B-36D94BD7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32A52D2-C530-4EDE-B8F6-DFB008187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93B4772-FD5B-44E6-92C1-A18236DF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D8131F6-4B19-4F72-B110-0D1F0A4F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B46196E-0FCD-435A-A9E8-E02B9CE9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98707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3E3F186C-5EF3-4D0D-B0E9-12491C557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5FCE2B7-6FBE-4DAB-879E-463EA6CB5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16B8185-41D6-40E9-A6B1-91D6AB3D0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76FC3E5-290E-4DBB-B58A-497BA135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F4FCD60-1F53-4F4E-BC2C-74486B4F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63591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BB57F4-80AB-4941-81A7-416718D3C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A31CE21-4A27-4D4E-858B-15C8462F3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BCBA3-DC52-4ACB-935E-137D6AC0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3BB3381-3980-4CD1-8620-DB0F7D42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0A8E6FD-1DEA-43BB-B9D5-73AE685C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47775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500BB2-2751-453A-82E8-1C28B106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C722D64-AB5B-4DAB-88C2-17CA19BC4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7611FA8-99A9-4A8B-A333-9CF0D27D4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9386A16-081D-4986-99CF-0C04D5DAF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711344A-D6D1-42CC-8D8D-324A27CB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9728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82BAD1-EB0E-4F36-B667-CA761F027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FA2889A-C20F-4B7B-B90F-F8B64DA27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9EFF253-1129-44C8-9442-2B8372567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06E8707-5443-4C94-A858-32E2B35C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F5E2BDB-45F6-40FD-8F26-5F2BBFCB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26873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9E0EBC-8A90-46A9-B759-506D6095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98BF523-499E-4E13-9445-AFCBA2DB3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3ED53BF-8B01-4E99-9535-632CE43F7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7E625BA-E146-416A-AEB1-7A6EDD0B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8EE19D1-3B2D-4D1B-8C00-9B0FB0FA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86B0DCC-2776-490A-8930-DF8D7238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98909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F6D572-27B1-4173-84AB-19547B279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23059A2-B958-4EC9-A127-EBFDAA773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61F9B3F-7175-49F6-AAB8-CF14515E0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AD0E9F8-8FB7-4669-89C0-BE42C2583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B843939E-40D8-4C3F-BFBD-E3DECCA9A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B91CDBC-EEAF-44CE-AA01-3ACF1FE84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9C52810-ABAD-4712-A506-3F1953D0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87BAFB5-816C-4407-89D6-026A47DE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81610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EF7995-2EE9-40F9-8384-53857A00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72F97B2-6AD7-4AF2-A5FA-D2E7E3B8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AE11CFB-E5D7-454C-908F-73DCF4E4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A7167FA-23FE-4EF9-BFAC-68418A3A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30691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932C8F2E-7714-40E9-AFF8-93550E11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2A6526AC-22AC-426B-8C1E-BD8E315E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7C37BCE-F169-4720-B584-ECC67814D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22112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98D418-775A-4B08-AAC1-6F5AB1D1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DD2A5A-0105-4639-9C5B-46A73728A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4B5F64B-AEE6-451C-B741-BC0CC0B96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32B5882-6796-45ED-A283-440D2AB1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3DE4B5C-7462-424A-B8AE-29B30427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33061AC-DF39-4BEB-AF67-08A1B59B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82305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93C845-BCEC-4322-B36B-B33462F82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9D147B2-7E03-4408-B616-95953487C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589CEC7-E954-45B3-90D1-24227EE19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0CA66FA-D456-4536-8472-201A93F3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70E3DAD-AE29-41AE-92BC-94807DBB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44DCFDB-BE10-469E-A08D-36A2C34E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29829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0E8A25-454B-42CC-9510-0D7797CD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6FF30DD-327F-4021-845D-0404490B7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D38EBD5-0FB4-4FD7-8906-0DDB5D2D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711E562-5AF4-4F30-BC37-39A2EFF9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17F1DD8-1CD9-460F-B994-B9511FBC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29650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223A378-F746-4BD7-A7DF-D2A77711B3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7CE96E7-71A1-4D68-BC00-395F0953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A40B3D9-9F85-4D5F-9B4E-211DEA31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D543FED-DE94-4212-8A7D-F225A4FA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2A7A53E-74FF-4AC0-B42E-40F25003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3078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0342D-BFEB-4330-B4F3-C064C2945100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079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713" r:id="rId3"/>
    <p:sldLayoutId id="2147483706" r:id="rId4"/>
    <p:sldLayoutId id="2147483688" r:id="rId5"/>
    <p:sldLayoutId id="2147483701" r:id="rId6"/>
    <p:sldLayoutId id="2147483702" r:id="rId7"/>
    <p:sldLayoutId id="2147483699" r:id="rId8"/>
    <p:sldLayoutId id="2147483703" r:id="rId9"/>
    <p:sldLayoutId id="2147483687" r:id="rId10"/>
    <p:sldLayoutId id="2147483700" r:id="rId11"/>
    <p:sldLayoutId id="2147483697" r:id="rId12"/>
    <p:sldLayoutId id="2147483705" r:id="rId13"/>
    <p:sldLayoutId id="2147483704" r:id="rId14"/>
    <p:sldLayoutId id="2147483707" r:id="rId15"/>
    <p:sldLayoutId id="2147483698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1E9EEC4-C75B-49FE-B4E5-2A35EEA26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9C62841-52BD-427B-B058-EC4C3D0DF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FC12F0D-3F36-44F8-8FC3-42B478411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2F23B-ECE8-45BB-B765-23E3FEF02B1B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51C1778-2CB2-48E9-B8DB-AA23F8387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81ADD10-BCCE-4810-9205-3A4378415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9B9BA-C0A3-462B-8286-720F080BC0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976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DB91FEE-D879-4405-8A71-66C6ADEE4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F291DE2-6678-4B43-A741-E98DA5909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59D1175-5666-4710-9629-6D12AC8AA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80063-A36B-4641-A99F-682BB772057D}" type="datetimeFigureOut">
              <a:rPr lang="pl-PL" smtClean="0"/>
              <a:pPr/>
              <a:t>20.05.2025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ADDB9D7-57B4-43DE-A012-7C97262B6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AE1844F-38F4-40C2-BD81-5D17266EC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35C0F-D179-49A1-AC14-2D046D9649F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248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1q6CMTo1xJI" TargetMode="External"/><Relationship Id="rId2" Type="http://schemas.openxmlformats.org/officeDocument/2006/relationships/hyperlink" Target="https://youtu.be/2agjdauU2_M" TargetMode="Externa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/>
          <p:cNvSpPr/>
          <p:nvPr/>
        </p:nvSpPr>
        <p:spPr>
          <a:xfrm>
            <a:off x="1513480" y="5127353"/>
            <a:ext cx="5310935" cy="338554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ole tekstowe 3"/>
          <p:cNvSpPr txBox="1"/>
          <p:nvPr/>
        </p:nvSpPr>
        <p:spPr>
          <a:xfrm>
            <a:off x="1538673" y="5127353"/>
            <a:ext cx="5260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solidFill>
                  <a:schemeClr val="bg1"/>
                </a:solidFill>
                <a:latin typeface="Arial" pitchFamily="34" charset="0"/>
                <a:ea typeface="Segoe UI Black" panose="020B0A02040204020203" pitchFamily="34" charset="0"/>
                <a:cs typeface="Arial" pitchFamily="34" charset="0"/>
              </a:rPr>
              <a:t>https://pg.edu.pl/en/openscience</a:t>
            </a:r>
          </a:p>
        </p:txBody>
      </p:sp>
      <p:sp>
        <p:nvSpPr>
          <p:cNvPr id="10" name="pole tekstowe 9"/>
          <p:cNvSpPr txBox="1"/>
          <p:nvPr/>
        </p:nvSpPr>
        <p:spPr>
          <a:xfrm>
            <a:off x="1513480" y="3805177"/>
            <a:ext cx="5326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>
                <a:solidFill>
                  <a:srgbClr val="003767"/>
                </a:solidFill>
                <a:latin typeface="Arial" pitchFamily="34" charset="0"/>
                <a:ea typeface="Segoe UI Black" panose="020B0A02040204020203" pitchFamily="34" charset="0"/>
                <a:cs typeface="Arial" pitchFamily="34" charset="0"/>
              </a:rPr>
              <a:t>Piotr Krajewski</a:t>
            </a:r>
          </a:p>
          <a:p>
            <a:r>
              <a:rPr lang="pl-PL" sz="2400" b="1">
                <a:solidFill>
                  <a:srgbClr val="003767"/>
                </a:solidFill>
                <a:latin typeface="Arial" pitchFamily="34" charset="0"/>
                <a:ea typeface="Segoe UI Black" panose="020B0A02040204020203" pitchFamily="34" charset="0"/>
                <a:cs typeface="Arial" pitchFamily="34" charset="0"/>
              </a:rPr>
              <a:t>Marta Kuźma</a:t>
            </a:r>
          </a:p>
          <a:p>
            <a:endParaRPr lang="pl-PL" sz="2400" b="1">
              <a:solidFill>
                <a:srgbClr val="003767"/>
              </a:solidFill>
              <a:latin typeface="Arial" pitchFamily="34" charset="0"/>
              <a:ea typeface="Segoe UI Black" panose="020B0A02040204020203" pitchFamily="34" charset="0"/>
              <a:cs typeface="Arial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1434372" y="2280761"/>
            <a:ext cx="93187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003767"/>
                </a:solidFill>
                <a:latin typeface="Arial" pitchFamily="34" charset="0"/>
                <a:ea typeface="Segoe UI Black" panose="020B0A02040204020203" pitchFamily="34" charset="0"/>
                <a:cs typeface="Arial" pitchFamily="34" charset="0"/>
              </a:rPr>
              <a:t>The world of data: how to improve </a:t>
            </a:r>
            <a:r>
              <a:rPr lang="pl-PL" sz="4000" b="1">
                <a:solidFill>
                  <a:srgbClr val="003767"/>
                </a:solidFill>
                <a:latin typeface="Arial" pitchFamily="34" charset="0"/>
                <a:ea typeface="Segoe UI Black" panose="020B0A02040204020203" pitchFamily="34" charset="0"/>
                <a:cs typeface="Arial" pitchFamily="34" charset="0"/>
              </a:rPr>
              <a:t> </a:t>
            </a:r>
          </a:p>
          <a:p>
            <a:r>
              <a:rPr lang="en-US" sz="4000" b="1">
                <a:solidFill>
                  <a:srgbClr val="003767"/>
                </a:solidFill>
                <a:latin typeface="Arial" pitchFamily="34" charset="0"/>
                <a:ea typeface="Segoe UI Black" panose="020B0A02040204020203" pitchFamily="34" charset="0"/>
                <a:cs typeface="Arial" pitchFamily="34" charset="0"/>
              </a:rPr>
              <a:t>the competences</a:t>
            </a:r>
            <a:r>
              <a:rPr lang="pl-PL" sz="4000" b="1">
                <a:solidFill>
                  <a:srgbClr val="003767"/>
                </a:solidFill>
                <a:latin typeface="Arial" pitchFamily="34" charset="0"/>
                <a:ea typeface="Segoe UI Black" panose="020B0A02040204020203" pitchFamily="34" charset="0"/>
                <a:cs typeface="Arial" pitchFamily="34" charset="0"/>
              </a:rPr>
              <a:t> </a:t>
            </a:r>
            <a:r>
              <a:rPr lang="en-US" sz="4000" b="1">
                <a:solidFill>
                  <a:srgbClr val="003767"/>
                </a:solidFill>
                <a:latin typeface="Arial" pitchFamily="34" charset="0"/>
                <a:ea typeface="Segoe UI Black" panose="020B0A02040204020203" pitchFamily="34" charset="0"/>
                <a:cs typeface="Arial" pitchFamily="34" charset="0"/>
              </a:rPr>
              <a:t>of data stewards?</a:t>
            </a:r>
            <a:endParaRPr lang="pl-PL" sz="4000" b="1">
              <a:solidFill>
                <a:srgbClr val="003767"/>
              </a:solidFill>
              <a:latin typeface="Arial" pitchFamily="34" charset="0"/>
              <a:ea typeface="Segoe UI Black" panose="020B0A02040204020203" pitchFamily="34" charset="0"/>
              <a:cs typeface="Arial" pitchFamily="34" charset="0"/>
            </a:endParaRPr>
          </a:p>
        </p:txBody>
      </p:sp>
      <p:pic>
        <p:nvPicPr>
          <p:cNvPr id="13" name="Obraz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61" t="32606" r="31563" b="37939"/>
          <a:stretch/>
        </p:blipFill>
        <p:spPr>
          <a:xfrm>
            <a:off x="2503464" y="739273"/>
            <a:ext cx="800613" cy="944412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B30C51FC-2B50-4465-987A-D9C213DB5E4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5" t="24848" r="28434" b="35879"/>
          <a:stretch/>
        </p:blipFill>
        <p:spPr>
          <a:xfrm>
            <a:off x="695550" y="706024"/>
            <a:ext cx="1535086" cy="1010911"/>
          </a:xfrm>
          <a:prstGeom prst="rect">
            <a:avLst/>
          </a:prstGeom>
        </p:spPr>
      </p:pic>
      <p:sp>
        <p:nvSpPr>
          <p:cNvPr id="5" name="Prostokąt 4"/>
          <p:cNvSpPr/>
          <p:nvPr/>
        </p:nvSpPr>
        <p:spPr>
          <a:xfrm>
            <a:off x="5254869" y="885938"/>
            <a:ext cx="6096000" cy="830997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pPr algn="r"/>
            <a:r>
              <a:rPr lang="pl-PL" sz="1600" b="1">
                <a:latin typeface="Arial"/>
                <a:cs typeface="Arial"/>
              </a:rPr>
              <a:t>9th </a:t>
            </a:r>
            <a:r>
              <a:rPr lang="en-US" sz="1600" b="1">
                <a:latin typeface="Arial"/>
                <a:cs typeface="Arial"/>
              </a:rPr>
              <a:t>Erasmus Staff Training Week</a:t>
            </a:r>
            <a:endParaRPr lang="pl-PL" sz="1600" b="1">
              <a:latin typeface="Arial"/>
              <a:cs typeface="Arial"/>
            </a:endParaRPr>
          </a:p>
          <a:p>
            <a:pPr algn="r"/>
            <a:r>
              <a:rPr lang="en-US" sz="1600" b="1" err="1">
                <a:latin typeface="Arial"/>
                <a:cs typeface="Arial"/>
              </a:rPr>
              <a:t>Gdańsk</a:t>
            </a:r>
            <a:r>
              <a:rPr lang="en-US" sz="1600" b="1">
                <a:latin typeface="Arial"/>
                <a:cs typeface="Arial"/>
              </a:rPr>
              <a:t> Tech Library</a:t>
            </a:r>
            <a:endParaRPr lang="pl-PL" sz="1600" b="1">
              <a:latin typeface="Arial"/>
              <a:cs typeface="Arial"/>
            </a:endParaRPr>
          </a:p>
          <a:p>
            <a:pPr algn="r"/>
            <a:r>
              <a:rPr lang="pl-PL" sz="1600" b="1">
                <a:latin typeface="Arial" pitchFamily="34" charset="0"/>
                <a:cs typeface="Arial" pitchFamily="34" charset="0"/>
              </a:rPr>
              <a:t>2025</a:t>
            </a:r>
            <a:endParaRPr lang="en-US" sz="1600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00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/>
          <p:cNvSpPr>
            <a:spLocks noGrp="1"/>
          </p:cNvSpPr>
          <p:nvPr>
            <p:ph type="ctrTitle"/>
          </p:nvPr>
        </p:nvSpPr>
        <p:spPr>
          <a:xfrm>
            <a:off x="3349451" y="536729"/>
            <a:ext cx="6146241" cy="281637"/>
          </a:xfrm>
        </p:spPr>
        <p:txBody>
          <a:bodyPr/>
          <a:lstStyle/>
          <a:p>
            <a:r>
              <a:rPr lang="pl-PL" altLang="pl-PL"/>
              <a:t>…by </a:t>
            </a:r>
            <a:r>
              <a:rPr lang="pl-PL" altLang="pl-PL" err="1"/>
              <a:t>practice</a:t>
            </a:r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D0035EE-4119-FA81-67A0-67366D5276CA}"/>
              </a:ext>
            </a:extLst>
          </p:cNvPr>
          <p:cNvSpPr txBox="1"/>
          <p:nvPr/>
        </p:nvSpPr>
        <p:spPr>
          <a:xfrm>
            <a:off x="396266" y="2588803"/>
            <a:ext cx="7014087" cy="37888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l-PL" b="1" dirty="0"/>
              <a:t>Open </a:t>
            </a:r>
            <a:r>
              <a:rPr lang="pl-PL" b="1" dirty="0" err="1"/>
              <a:t>Research</a:t>
            </a:r>
            <a:r>
              <a:rPr lang="pl-PL" b="1" dirty="0"/>
              <a:t> Data </a:t>
            </a:r>
            <a:r>
              <a:rPr lang="pl-PL" b="1" dirty="0" err="1"/>
              <a:t>Repository</a:t>
            </a:r>
            <a:r>
              <a:rPr lang="pl-PL" b="1" dirty="0"/>
              <a:t> </a:t>
            </a:r>
          </a:p>
          <a:p>
            <a:pPr marL="283464" indent="-283464">
              <a:lnSpc>
                <a:spcPct val="150000"/>
              </a:lnSpc>
              <a:buFont typeface="Arial"/>
              <a:buChar char="•"/>
            </a:pPr>
            <a:r>
              <a:rPr lang="pl-PL" dirty="0" err="1"/>
              <a:t>verifing</a:t>
            </a:r>
            <a:r>
              <a:rPr lang="pl-PL" dirty="0"/>
              <a:t> and </a:t>
            </a:r>
            <a:r>
              <a:rPr lang="pl-PL" dirty="0" err="1"/>
              <a:t>aproving</a:t>
            </a:r>
            <a:r>
              <a:rPr lang="pl-PL" dirty="0"/>
              <a:t> </a:t>
            </a:r>
            <a:r>
              <a:rPr lang="pl-PL" dirty="0" err="1"/>
              <a:t>metadata</a:t>
            </a:r>
            <a:r>
              <a:rPr lang="pl-PL" dirty="0"/>
              <a:t> of </a:t>
            </a:r>
            <a:r>
              <a:rPr lang="pl-PL" dirty="0" err="1"/>
              <a:t>datasets</a:t>
            </a:r>
            <a:r>
              <a:rPr lang="pl-PL" dirty="0"/>
              <a:t> </a:t>
            </a:r>
            <a:r>
              <a:rPr lang="pl-PL" dirty="0" err="1"/>
              <a:t>submitted</a:t>
            </a:r>
            <a:r>
              <a:rPr lang="pl-PL" dirty="0"/>
              <a:t> for </a:t>
            </a:r>
            <a:r>
              <a:rPr lang="pl-PL" dirty="0" err="1"/>
              <a:t>publication</a:t>
            </a:r>
            <a:r>
              <a:rPr lang="pl-PL" dirty="0"/>
              <a:t> in the Bridge of Data </a:t>
            </a:r>
            <a:r>
              <a:rPr lang="pl-PL" dirty="0" err="1"/>
              <a:t>repository</a:t>
            </a:r>
            <a:endParaRPr lang="pl-PL" dirty="0"/>
          </a:p>
          <a:p>
            <a:pPr marL="283464" indent="-283464">
              <a:lnSpc>
                <a:spcPct val="150000"/>
              </a:lnSpc>
              <a:buFont typeface="Arial"/>
              <a:buChar char="•"/>
            </a:pPr>
            <a:r>
              <a:rPr lang="pl-PL" dirty="0" err="1"/>
              <a:t>curation</a:t>
            </a:r>
            <a:r>
              <a:rPr lang="pl-PL" dirty="0"/>
              <a:t> of </a:t>
            </a:r>
            <a:r>
              <a:rPr lang="pl-PL" dirty="0" err="1"/>
              <a:t>datasets</a:t>
            </a:r>
            <a:r>
              <a:rPr lang="pl-PL" dirty="0"/>
              <a:t> </a:t>
            </a:r>
            <a:r>
              <a:rPr lang="pl-PL" dirty="0" err="1"/>
              <a:t>collection</a:t>
            </a:r>
            <a:endParaRPr lang="pl-PL" dirty="0"/>
          </a:p>
          <a:p>
            <a:pPr marL="283464" indent="-283464">
              <a:lnSpc>
                <a:spcPct val="150000"/>
              </a:lnSpc>
              <a:buFont typeface="Arial"/>
              <a:buChar char="•"/>
            </a:pPr>
            <a:r>
              <a:rPr lang="pl-PL" dirty="0"/>
              <a:t>i</a:t>
            </a:r>
            <a:r>
              <a:rPr lang="en-US" dirty="0" err="1"/>
              <a:t>mprov</a:t>
            </a:r>
            <a:r>
              <a:rPr lang="pl-PL" dirty="0" err="1"/>
              <a:t>ing</a:t>
            </a:r>
            <a:r>
              <a:rPr lang="en-US" dirty="0"/>
              <a:t> our repository </a:t>
            </a:r>
            <a:r>
              <a:rPr lang="pl-PL" dirty="0"/>
              <a:t>by:</a:t>
            </a:r>
          </a:p>
          <a:p>
            <a:pPr marL="740664" indent="-283464">
              <a:lnSpc>
                <a:spcPct val="150000"/>
              </a:lnSpc>
              <a:buFont typeface="Courier New"/>
              <a:buChar char="o"/>
            </a:pPr>
            <a:r>
              <a:rPr lang="pl-PL" dirty="0"/>
              <a:t>c</a:t>
            </a:r>
            <a:r>
              <a:rPr lang="en-US" dirty="0" err="1"/>
              <a:t>ollaboration</a:t>
            </a:r>
            <a:r>
              <a:rPr lang="en-US" dirty="0"/>
              <a:t> with the IT department,​</a:t>
            </a:r>
          </a:p>
          <a:p>
            <a:pPr marL="740664" indent="-283464">
              <a:lnSpc>
                <a:spcPct val="150000"/>
              </a:lnSpc>
              <a:buFont typeface="Courier New"/>
              <a:buChar char="o"/>
            </a:pPr>
            <a:r>
              <a:rPr lang="pl-PL" dirty="0"/>
              <a:t>p</a:t>
            </a:r>
            <a:r>
              <a:rPr lang="en-US" dirty="0"/>
              <a:t>reparation of user guidelines and instructions,​</a:t>
            </a:r>
          </a:p>
          <a:p>
            <a:pPr marL="740664" indent="-283464">
              <a:lnSpc>
                <a:spcPct val="150000"/>
              </a:lnSpc>
              <a:buFont typeface="Courier New"/>
              <a:buChar char="o"/>
            </a:pPr>
            <a:r>
              <a:rPr lang="pl-PL" dirty="0"/>
              <a:t>p</a:t>
            </a:r>
            <a:r>
              <a:rPr lang="en-US" dirty="0" err="1"/>
              <a:t>articipation</a:t>
            </a:r>
            <a:r>
              <a:rPr lang="en-US" dirty="0"/>
              <a:t> in the certification processes (e.g., </a:t>
            </a:r>
            <a:r>
              <a:rPr lang="en-US" dirty="0" err="1"/>
              <a:t>CoreTrustSeal</a:t>
            </a:r>
            <a:r>
              <a:rPr lang="en-US" dirty="0"/>
              <a:t> quality certification)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B08EC43-3E30-FC63-567C-7A61B3D8F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694" y="2107889"/>
            <a:ext cx="12192000" cy="6120384"/>
          </a:xfrm>
          <a:prstGeom prst="rect">
            <a:avLst/>
          </a:prstGeom>
        </p:spPr>
      </p:pic>
      <p:pic>
        <p:nvPicPr>
          <p:cNvPr id="2" name="Obraz 1">
            <a:extLst>
              <a:ext uri="{FF2B5EF4-FFF2-40B4-BE49-F238E27FC236}">
                <a16:creationId xmlns:a16="http://schemas.microsoft.com/office/drawing/2014/main" id="{2E70657E-256B-0ED6-4AD8-6707C8552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34"/>
          <a:stretch/>
        </p:blipFill>
        <p:spPr>
          <a:xfrm>
            <a:off x="7197558" y="600254"/>
            <a:ext cx="4981589" cy="6120384"/>
          </a:xfrm>
          <a:prstGeom prst="rect">
            <a:avLst/>
          </a:prstGeom>
        </p:spPr>
      </p:pic>
      <p:pic>
        <p:nvPicPr>
          <p:cNvPr id="10" name="Grafika 9">
            <a:extLst>
              <a:ext uri="{FF2B5EF4-FFF2-40B4-BE49-F238E27FC236}">
                <a16:creationId xmlns:a16="http://schemas.microsoft.com/office/drawing/2014/main" id="{8CA86655-9022-77DB-AF9D-D8ACA69B00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824" y="1122700"/>
            <a:ext cx="2644525" cy="137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99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altLang="pl-PL"/>
              <a:t>…by </a:t>
            </a:r>
            <a:r>
              <a:rPr lang="pl-PL" altLang="pl-PL" err="1"/>
              <a:t>practice</a:t>
            </a:r>
            <a:r>
              <a:rPr lang="pl-PL" altLang="pl-PL"/>
              <a:t> </a:t>
            </a:r>
            <a:endParaRPr lang="pl-PL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E6DEFE43-22E8-D9C1-3EB5-7D17DAF83CEB}"/>
              </a:ext>
            </a:extLst>
          </p:cNvPr>
          <p:cNvSpPr txBox="1"/>
          <p:nvPr/>
        </p:nvSpPr>
        <p:spPr>
          <a:xfrm>
            <a:off x="550337" y="1090459"/>
            <a:ext cx="5834421" cy="58249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3767"/>
                </a:solidFill>
                <a:cs typeface="Arial"/>
              </a:rPr>
              <a:t>Research Data Management </a:t>
            </a:r>
            <a:r>
              <a:rPr lang="pl-PL" b="1" dirty="0">
                <a:solidFill>
                  <a:srgbClr val="003767"/>
                </a:solidFill>
                <a:cs typeface="Arial"/>
              </a:rPr>
              <a:t>s</a:t>
            </a:r>
            <a:r>
              <a:rPr lang="en-US" b="1" dirty="0" err="1">
                <a:solidFill>
                  <a:srgbClr val="003767"/>
                </a:solidFill>
                <a:cs typeface="Arial"/>
              </a:rPr>
              <a:t>upport</a:t>
            </a:r>
            <a:r>
              <a:rPr lang="en-US" b="1" dirty="0">
                <a:solidFill>
                  <a:srgbClr val="003767"/>
                </a:solidFill>
                <a:cs typeface="Arial"/>
              </a:rPr>
              <a:t>:</a:t>
            </a:r>
            <a:endParaRPr lang="en-US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3767"/>
                </a:solidFill>
                <a:cs typeface="Arial"/>
              </a:rPr>
              <a:t>• verification of Data Management Plans prepared by </a:t>
            </a:r>
            <a:r>
              <a:rPr lang="en-US" dirty="0" err="1">
                <a:solidFill>
                  <a:srgbClr val="003767"/>
                </a:solidFill>
                <a:cs typeface="Arial"/>
              </a:rPr>
              <a:t>Gdańsk</a:t>
            </a:r>
            <a:r>
              <a:rPr lang="en-US" dirty="0">
                <a:solidFill>
                  <a:srgbClr val="003767"/>
                </a:solidFill>
                <a:cs typeface="Arial"/>
              </a:rPr>
              <a:t> Tech researchers as part of applications for National Science Centre grants</a:t>
            </a:r>
            <a:endParaRPr lang="en-US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3767"/>
                </a:solidFill>
                <a:cs typeface="Arial"/>
              </a:rPr>
              <a:t>• maintenance of a database registering and archiving all verified DMPs</a:t>
            </a:r>
            <a:endParaRPr lang="en-US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3767"/>
                </a:solidFill>
                <a:cs typeface="Arial"/>
              </a:rPr>
              <a:t>• support for researchers in properly completing project reports (annual and final) in the context of research data sharing</a:t>
            </a:r>
            <a:endParaRPr lang="en-US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3767"/>
                </a:solidFill>
                <a:cs typeface="Arial"/>
              </a:rPr>
              <a:t>• consultations and training for researchers covering research data management area</a:t>
            </a:r>
            <a:endParaRPr lang="en-US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dirty="0">
                <a:cs typeface="Arial"/>
              </a:rPr>
              <a:t>• preparation of educational and training materials related to research data </a:t>
            </a:r>
          </a:p>
          <a:p>
            <a:pPr>
              <a:lnSpc>
                <a:spcPct val="150000"/>
              </a:lnSpc>
            </a:pPr>
            <a:endParaRPr lang="en-US" sz="1600" dirty="0">
              <a:cs typeface="Arial"/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72C6E1B9-DB05-335D-BDD3-A3409D404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152" y="349571"/>
            <a:ext cx="6353517" cy="435008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4CA3569C-6707-D703-3E27-A08F97262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218" y="2554050"/>
            <a:ext cx="5427788" cy="37672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971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/>
          <p:cNvSpPr>
            <a:spLocks noGrp="1"/>
          </p:cNvSpPr>
          <p:nvPr>
            <p:ph type="ctrTitle"/>
          </p:nvPr>
        </p:nvSpPr>
        <p:spPr>
          <a:xfrm>
            <a:off x="3349451" y="536729"/>
            <a:ext cx="8309149" cy="281637"/>
          </a:xfrm>
        </p:spPr>
        <p:txBody>
          <a:bodyPr/>
          <a:lstStyle/>
          <a:p>
            <a:r>
              <a:rPr lang="pl-PL"/>
              <a:t>… by </a:t>
            </a:r>
            <a:r>
              <a:rPr lang="pl-PL" err="1"/>
              <a:t>participation</a:t>
            </a:r>
            <a:r>
              <a:rPr lang="pl-PL"/>
              <a:t> in </a:t>
            </a:r>
            <a:r>
              <a:rPr lang="pl-PL" err="1"/>
              <a:t>projects</a:t>
            </a:r>
            <a:br>
              <a:rPr lang="pl-PL"/>
            </a:br>
            <a:endParaRPr lang="en-US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 rotWithShape="1">
          <a:blip r:embed="rId3"/>
          <a:srcRect l="30958" t="14760" r="31821" b="7812"/>
          <a:stretch/>
        </p:blipFill>
        <p:spPr>
          <a:xfrm>
            <a:off x="8948133" y="2836309"/>
            <a:ext cx="4023141" cy="4834359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7" name="Prostokąt 6"/>
          <p:cNvSpPr/>
          <p:nvPr/>
        </p:nvSpPr>
        <p:spPr>
          <a:xfrm>
            <a:off x="882845" y="2907794"/>
            <a:ext cx="4236002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l-PL" sz="2400" b="1" dirty="0"/>
              <a:t>   </a:t>
            </a:r>
            <a:r>
              <a:rPr lang="pl-PL" sz="2400" b="1" dirty="0" err="1"/>
              <a:t>discipline</a:t>
            </a:r>
            <a:r>
              <a:rPr lang="pl-PL" sz="2400" b="1" dirty="0"/>
              <a:t> data </a:t>
            </a:r>
            <a:r>
              <a:rPr lang="pl-PL" sz="2400" b="1" dirty="0" err="1"/>
              <a:t>stewards</a:t>
            </a:r>
            <a:endParaRPr lang="pl-PL" sz="2400" b="1" dirty="0"/>
          </a:p>
          <a:p>
            <a:pPr lvl="0"/>
            <a:r>
              <a:rPr lang="en-US" sz="2000" dirty="0"/>
              <a:t>Key goal for this initiative </a:t>
            </a:r>
            <a:r>
              <a:rPr lang="pl-PL" sz="2000" dirty="0" err="1"/>
              <a:t>is</a:t>
            </a:r>
            <a:r>
              <a:rPr lang="en-US" sz="2000" dirty="0"/>
              <a:t> creating a </a:t>
            </a:r>
            <a:r>
              <a:rPr lang="en-US" sz="2000" b="1" dirty="0"/>
              <a:t>team of qualified data stewards</a:t>
            </a:r>
            <a:r>
              <a:rPr lang="en-US" sz="2000" dirty="0"/>
              <a:t> in response to the need for support for </a:t>
            </a:r>
            <a:r>
              <a:rPr lang="en-US" sz="2000" dirty="0" err="1"/>
              <a:t>Gdańsk</a:t>
            </a:r>
            <a:r>
              <a:rPr lang="en-US" sz="2000" dirty="0"/>
              <a:t> Tech researchers and PhD students focused on the scientific disciplines within which research activities are conducted. </a:t>
            </a:r>
            <a:endParaRPr lang="pl-PL" sz="2000" dirty="0"/>
          </a:p>
        </p:txBody>
      </p:sp>
      <p:sp>
        <p:nvSpPr>
          <p:cNvPr id="20" name="Prostokąt 19"/>
          <p:cNvSpPr/>
          <p:nvPr/>
        </p:nvSpPr>
        <p:spPr>
          <a:xfrm>
            <a:off x="1925515" y="1266649"/>
            <a:ext cx="89681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600" b="1"/>
              <a:t>                    </a:t>
            </a:r>
            <a:r>
              <a:rPr lang="en-US" sz="1600" b="1"/>
              <a:t>Initiative of Excellence </a:t>
            </a:r>
            <a:r>
              <a:rPr lang="pl-PL" sz="1600" b="1"/>
              <a:t>–</a:t>
            </a:r>
            <a:r>
              <a:rPr lang="en-US" sz="1600" b="1"/>
              <a:t> Research University </a:t>
            </a:r>
            <a:r>
              <a:rPr lang="pl-PL" sz="1600" b="1"/>
              <a:t>(IDUB)</a:t>
            </a:r>
          </a:p>
          <a:p>
            <a:r>
              <a:rPr lang="pl-PL" sz="1600" b="1"/>
              <a:t>2024-2025 | </a:t>
            </a:r>
            <a:r>
              <a:rPr lang="en-US" sz="1600" b="1"/>
              <a:t>Actions to promote and increase awareness of Open Research Data</a:t>
            </a:r>
            <a:endParaRPr lang="pl-PL" sz="1600" b="1"/>
          </a:p>
          <a:p>
            <a:endParaRPr lang="pl-PL" sz="1600" b="1"/>
          </a:p>
          <a:p>
            <a:r>
              <a:rPr lang="en-US" sz="1600"/>
              <a:t>IDUB activities aim to disseminate effective methods and practices in publishing and sharing research data among the academic community of the </a:t>
            </a:r>
            <a:r>
              <a:rPr lang="en-US" sz="1600" err="1"/>
              <a:t>Gda</a:t>
            </a:r>
            <a:r>
              <a:rPr lang="pl-PL" sz="1600"/>
              <a:t>ń</a:t>
            </a:r>
            <a:r>
              <a:rPr lang="en-US" sz="1600" err="1"/>
              <a:t>sk</a:t>
            </a:r>
            <a:r>
              <a:rPr lang="en-US" sz="1600"/>
              <a:t> University of Technology.</a:t>
            </a:r>
          </a:p>
          <a:p>
            <a:endParaRPr lang="en-US" sz="1600" b="1"/>
          </a:p>
        </p:txBody>
      </p:sp>
      <p:sp>
        <p:nvSpPr>
          <p:cNvPr id="18" name="Prostokąt 17"/>
          <p:cNvSpPr/>
          <p:nvPr/>
        </p:nvSpPr>
        <p:spPr>
          <a:xfrm>
            <a:off x="5367206" y="2907794"/>
            <a:ext cx="5056192" cy="38164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pl-PL" sz="2400" b="1"/>
              <a:t>    model Data Management </a:t>
            </a:r>
            <a:r>
              <a:rPr lang="pl-PL" sz="2400" b="1" err="1"/>
              <a:t>Plans</a:t>
            </a:r>
            <a:endParaRPr lang="pl-PL" sz="2400" b="1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l-PL" sz="2000" err="1"/>
              <a:t>architecture</a:t>
            </a:r>
            <a:r>
              <a:rPr lang="pl-PL" sz="2000"/>
              <a:t> and </a:t>
            </a:r>
            <a:r>
              <a:rPr lang="pl-PL" sz="2000" err="1"/>
              <a:t>urban</a:t>
            </a:r>
            <a:r>
              <a:rPr lang="pl-PL" sz="2000"/>
              <a:t> </a:t>
            </a:r>
            <a:r>
              <a:rPr lang="pl-PL" sz="2000" err="1"/>
              <a:t>planning</a:t>
            </a:r>
            <a:endParaRPr lang="pl-PL" sz="20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/>
              <a:t>automation, electronics, </a:t>
            </a:r>
            <a:endParaRPr lang="pl-PL" sz="2000"/>
          </a:p>
          <a:p>
            <a:pPr lvl="0"/>
            <a:r>
              <a:rPr lang="pl-PL" sz="2000"/>
              <a:t>    </a:t>
            </a:r>
            <a:r>
              <a:rPr lang="en-US" sz="2000"/>
              <a:t>electrical engineering</a:t>
            </a:r>
          </a:p>
          <a:p>
            <a:pPr lvl="0"/>
            <a:r>
              <a:rPr lang="pl-PL" sz="2000"/>
              <a:t>    </a:t>
            </a:r>
            <a:r>
              <a:rPr lang="en-US" sz="2000"/>
              <a:t>and space technologies</a:t>
            </a:r>
            <a:endParaRPr lang="pl-PL" sz="20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l-PL" sz="2000" err="1"/>
              <a:t>economics</a:t>
            </a:r>
            <a:r>
              <a:rPr lang="pl-PL" sz="2000"/>
              <a:t> and </a:t>
            </a:r>
            <a:r>
              <a:rPr lang="pl-PL" sz="2000" err="1"/>
              <a:t>finance</a:t>
            </a:r>
            <a:endParaRPr lang="pl-PL" sz="20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l-PL" sz="2000" err="1"/>
              <a:t>technical</a:t>
            </a:r>
            <a:r>
              <a:rPr lang="pl-PL" sz="2000"/>
              <a:t> </a:t>
            </a:r>
            <a:r>
              <a:rPr lang="pl-PL" sz="2000" err="1"/>
              <a:t>informatics</a:t>
            </a:r>
            <a:r>
              <a:rPr lang="pl-PL" sz="2000"/>
              <a:t> </a:t>
            </a:r>
          </a:p>
          <a:p>
            <a:pPr lvl="0"/>
            <a:r>
              <a:rPr lang="pl-PL" sz="2000"/>
              <a:t>    and </a:t>
            </a:r>
            <a:r>
              <a:rPr lang="pl-PL" sz="2000" err="1"/>
              <a:t>telecommunications</a:t>
            </a:r>
            <a:endParaRPr lang="pl-PL" sz="20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/>
              <a:t>environmental engineering, </a:t>
            </a:r>
            <a:endParaRPr lang="pl-PL" sz="2000"/>
          </a:p>
          <a:p>
            <a:pPr lvl="0"/>
            <a:r>
              <a:rPr lang="pl-PL" sz="2000"/>
              <a:t>    </a:t>
            </a:r>
            <a:r>
              <a:rPr lang="en-US" sz="2000"/>
              <a:t>mining and energy</a:t>
            </a:r>
            <a:endParaRPr lang="pl-PL" sz="20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l-PL" sz="2000" err="1"/>
              <a:t>biological</a:t>
            </a:r>
            <a:r>
              <a:rPr lang="pl-PL" sz="2000"/>
              <a:t> </a:t>
            </a:r>
            <a:r>
              <a:rPr lang="pl-PL" sz="2000" err="1"/>
              <a:t>sciences</a:t>
            </a:r>
            <a:endParaRPr lang="pl-PL" sz="20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l-PL" sz="2000" err="1"/>
              <a:t>chemical</a:t>
            </a:r>
            <a:r>
              <a:rPr lang="pl-PL" sz="2000"/>
              <a:t> </a:t>
            </a:r>
            <a:r>
              <a:rPr lang="pl-PL" sz="2000" err="1"/>
              <a:t>sciences</a:t>
            </a:r>
            <a:endParaRPr lang="pl-PL" sz="2000"/>
          </a:p>
        </p:txBody>
      </p:sp>
      <p:sp>
        <p:nvSpPr>
          <p:cNvPr id="19" name="Prostokąt 18"/>
          <p:cNvSpPr/>
          <p:nvPr/>
        </p:nvSpPr>
        <p:spPr>
          <a:xfrm>
            <a:off x="767558" y="2553877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54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23" name="Prostokąt 22"/>
          <p:cNvSpPr/>
          <p:nvPr/>
        </p:nvSpPr>
        <p:spPr>
          <a:xfrm>
            <a:off x="5301171" y="2553877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54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7587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załka w górę 2"/>
          <p:cNvSpPr/>
          <p:nvPr/>
        </p:nvSpPr>
        <p:spPr>
          <a:xfrm rot="5400000">
            <a:off x="5144640" y="-516304"/>
            <a:ext cx="1710917" cy="12000199"/>
          </a:xfrm>
          <a:prstGeom prst="upArrow">
            <a:avLst/>
          </a:prstGeom>
          <a:gradFill flip="none" rotWithShape="1">
            <a:gsLst>
              <a:gs pos="0">
                <a:schemeClr val="accent3">
                  <a:lumMod val="75000"/>
                  <a:tint val="66000"/>
                  <a:satMod val="160000"/>
                </a:schemeClr>
              </a:gs>
              <a:gs pos="50000">
                <a:schemeClr val="accent3">
                  <a:lumMod val="75000"/>
                  <a:tint val="44500"/>
                  <a:satMod val="160000"/>
                </a:schemeClr>
              </a:gs>
              <a:gs pos="100000">
                <a:schemeClr val="accent3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Tytuł 7"/>
          <p:cNvSpPr>
            <a:spLocks noGrp="1"/>
          </p:cNvSpPr>
          <p:nvPr>
            <p:ph type="ctrTitle"/>
          </p:nvPr>
        </p:nvSpPr>
        <p:spPr>
          <a:xfrm>
            <a:off x="3349451" y="536729"/>
            <a:ext cx="8309149" cy="281637"/>
          </a:xfrm>
        </p:spPr>
        <p:txBody>
          <a:bodyPr/>
          <a:lstStyle/>
          <a:p>
            <a:r>
              <a:rPr lang="pl-PL"/>
              <a:t>… by </a:t>
            </a:r>
            <a:r>
              <a:rPr lang="pl-PL" err="1"/>
              <a:t>participation</a:t>
            </a:r>
            <a:r>
              <a:rPr lang="pl-PL"/>
              <a:t> in </a:t>
            </a:r>
            <a:r>
              <a:rPr lang="pl-PL" err="1"/>
              <a:t>projects</a:t>
            </a:r>
            <a:br>
              <a:rPr lang="pl-PL"/>
            </a:br>
            <a:endParaRPr lang="en-US"/>
          </a:p>
        </p:txBody>
      </p:sp>
      <p:sp>
        <p:nvSpPr>
          <p:cNvPr id="7" name="Prostokąt 6"/>
          <p:cNvSpPr/>
          <p:nvPr/>
        </p:nvSpPr>
        <p:spPr>
          <a:xfrm>
            <a:off x="1002323" y="2394998"/>
            <a:ext cx="1020787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l-PL" sz="2400" b="1"/>
              <a:t>             datasets and       data descriptors</a:t>
            </a:r>
          </a:p>
          <a:p>
            <a:r>
              <a:rPr lang="en-US" sz="2000"/>
              <a:t>The activity of data stewards contributes to increasing the quality of scientific research conducted by </a:t>
            </a:r>
            <a:r>
              <a:rPr lang="en-US" sz="2000" err="1"/>
              <a:t>Gdańsk</a:t>
            </a:r>
            <a:r>
              <a:rPr lang="en-US" sz="2000"/>
              <a:t> Tech employees, increasing the number of datasets and research data-related articles published by them, and in the long run, will result in an increase in the visibility of their output in the international arena.</a:t>
            </a:r>
          </a:p>
        </p:txBody>
      </p:sp>
      <p:sp>
        <p:nvSpPr>
          <p:cNvPr id="20" name="Prostokąt 19"/>
          <p:cNvSpPr/>
          <p:nvPr/>
        </p:nvSpPr>
        <p:spPr>
          <a:xfrm>
            <a:off x="1925515" y="1266649"/>
            <a:ext cx="89681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600" b="1"/>
              <a:t>                    </a:t>
            </a:r>
            <a:r>
              <a:rPr lang="en-US" sz="1600" b="1"/>
              <a:t>Initiative of Excellence </a:t>
            </a:r>
            <a:r>
              <a:rPr lang="pl-PL" sz="1600" b="1"/>
              <a:t>–</a:t>
            </a:r>
            <a:r>
              <a:rPr lang="en-US" sz="1600" b="1"/>
              <a:t> Research University </a:t>
            </a:r>
            <a:r>
              <a:rPr lang="pl-PL" sz="1600" b="1"/>
              <a:t>(IDUB)</a:t>
            </a:r>
          </a:p>
          <a:p>
            <a:r>
              <a:rPr lang="pl-PL" sz="1600" b="1"/>
              <a:t>2024-2025 | </a:t>
            </a:r>
            <a:r>
              <a:rPr lang="en-US" sz="1600" b="1"/>
              <a:t>Actions to promote and increase awareness of Open Research Data</a:t>
            </a:r>
            <a:endParaRPr lang="pl-PL" sz="1600" b="1"/>
          </a:p>
        </p:txBody>
      </p:sp>
      <p:sp>
        <p:nvSpPr>
          <p:cNvPr id="19" name="Prostokąt 18"/>
          <p:cNvSpPr/>
          <p:nvPr/>
        </p:nvSpPr>
        <p:spPr>
          <a:xfrm>
            <a:off x="757176" y="2033539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54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322</a:t>
            </a:r>
            <a:endParaRPr lang="pl-PL" sz="5400" b="1" cap="none" spc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Prostokąt 22"/>
          <p:cNvSpPr/>
          <p:nvPr/>
        </p:nvSpPr>
        <p:spPr>
          <a:xfrm>
            <a:off x="3713670" y="2033539"/>
            <a:ext cx="569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54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pl-PL" sz="5400" b="1" cap="none" spc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Owal 10"/>
          <p:cNvSpPr/>
          <p:nvPr/>
        </p:nvSpPr>
        <p:spPr>
          <a:xfrm>
            <a:off x="3479303" y="4923318"/>
            <a:ext cx="234754" cy="2347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50790"/>
              <a:satOff val="-49145"/>
              <a:lumOff val="-20197"/>
              <a:alphaOff val="0"/>
            </a:schemeClr>
          </a:fillRef>
          <a:effectRef idx="0">
            <a:schemeClr val="accent3">
              <a:hueOff val="50790"/>
              <a:satOff val="-49145"/>
              <a:lumOff val="-20197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Owal 11"/>
          <p:cNvSpPr/>
          <p:nvPr/>
        </p:nvSpPr>
        <p:spPr>
          <a:xfrm>
            <a:off x="7783858" y="4918461"/>
            <a:ext cx="234754" cy="2347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50790"/>
              <a:satOff val="-49145"/>
              <a:lumOff val="-20197"/>
              <a:alphaOff val="0"/>
            </a:schemeClr>
          </a:fillRef>
          <a:effectRef idx="0">
            <a:schemeClr val="accent3">
              <a:hueOff val="50790"/>
              <a:satOff val="-49145"/>
              <a:lumOff val="-20197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Owal 14"/>
          <p:cNvSpPr/>
          <p:nvPr/>
        </p:nvSpPr>
        <p:spPr>
          <a:xfrm>
            <a:off x="2036064" y="4918461"/>
            <a:ext cx="234754" cy="234754"/>
          </a:xfrm>
          <a:prstGeom prst="ellipse">
            <a:avLst/>
          </a:prstGeom>
          <a:solidFill>
            <a:srgbClr val="F1878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50790"/>
              <a:satOff val="-49145"/>
              <a:lumOff val="-20197"/>
              <a:alphaOff val="0"/>
            </a:schemeClr>
          </a:fillRef>
          <a:effectRef idx="0">
            <a:schemeClr val="accent3">
              <a:hueOff val="50790"/>
              <a:satOff val="-49145"/>
              <a:lumOff val="-20197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Owal 15"/>
          <p:cNvSpPr/>
          <p:nvPr/>
        </p:nvSpPr>
        <p:spPr>
          <a:xfrm>
            <a:off x="639799" y="4918461"/>
            <a:ext cx="234754" cy="2347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50790"/>
              <a:satOff val="-49145"/>
              <a:lumOff val="-20197"/>
              <a:alphaOff val="0"/>
            </a:schemeClr>
          </a:fillRef>
          <a:effectRef idx="0">
            <a:schemeClr val="accent3">
              <a:hueOff val="50790"/>
              <a:satOff val="-49145"/>
              <a:lumOff val="-20197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Owal 16"/>
          <p:cNvSpPr/>
          <p:nvPr/>
        </p:nvSpPr>
        <p:spPr>
          <a:xfrm>
            <a:off x="4922542" y="4918461"/>
            <a:ext cx="234754" cy="234754"/>
          </a:xfrm>
          <a:prstGeom prst="ellipse">
            <a:avLst/>
          </a:prstGeom>
          <a:solidFill>
            <a:srgbClr val="F6B4B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50790"/>
              <a:satOff val="-49145"/>
              <a:lumOff val="-20197"/>
              <a:alphaOff val="0"/>
            </a:schemeClr>
          </a:fillRef>
          <a:effectRef idx="0">
            <a:schemeClr val="accent3">
              <a:hueOff val="50790"/>
              <a:satOff val="-49145"/>
              <a:lumOff val="-20197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Owal 20"/>
          <p:cNvSpPr/>
          <p:nvPr/>
        </p:nvSpPr>
        <p:spPr>
          <a:xfrm>
            <a:off x="6353200" y="4918461"/>
            <a:ext cx="234754" cy="234754"/>
          </a:xfrm>
          <a:prstGeom prst="ellipse">
            <a:avLst/>
          </a:prstGeom>
          <a:solidFill>
            <a:srgbClr val="F8C0C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50790"/>
              <a:satOff val="-49145"/>
              <a:lumOff val="-20197"/>
              <a:alphaOff val="0"/>
            </a:schemeClr>
          </a:fillRef>
          <a:effectRef idx="0">
            <a:schemeClr val="accent3">
              <a:hueOff val="50790"/>
              <a:satOff val="-49145"/>
              <a:lumOff val="-20197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6885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/>
          <p:cNvSpPr>
            <a:spLocks noGrp="1"/>
          </p:cNvSpPr>
          <p:nvPr>
            <p:ph type="ctrTitle"/>
          </p:nvPr>
        </p:nvSpPr>
        <p:spPr>
          <a:xfrm>
            <a:off x="3349451" y="536729"/>
            <a:ext cx="8309149" cy="281637"/>
          </a:xfrm>
        </p:spPr>
        <p:txBody>
          <a:bodyPr/>
          <a:lstStyle/>
          <a:p>
            <a:r>
              <a:rPr lang="pl-PL"/>
              <a:t>… by </a:t>
            </a:r>
            <a:r>
              <a:rPr lang="pl-PL" err="1"/>
              <a:t>participation</a:t>
            </a:r>
            <a:r>
              <a:rPr lang="pl-PL"/>
              <a:t> in </a:t>
            </a:r>
            <a:r>
              <a:rPr lang="pl-PL" err="1"/>
              <a:t>tranings</a:t>
            </a:r>
            <a:br>
              <a:rPr lang="pl-PL"/>
            </a:br>
            <a:endParaRPr lang="en-US"/>
          </a:p>
        </p:txBody>
      </p:sp>
      <p:sp>
        <p:nvSpPr>
          <p:cNvPr id="7" name="Prostokąt 6"/>
          <p:cNvSpPr/>
          <p:nvPr/>
        </p:nvSpPr>
        <p:spPr>
          <a:xfrm>
            <a:off x="998352" y="2500003"/>
            <a:ext cx="10203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l-PL" sz="2400" b="1" err="1"/>
              <a:t>Competences</a:t>
            </a:r>
            <a:r>
              <a:rPr lang="pl-PL" sz="2400" b="1"/>
              <a:t> </a:t>
            </a:r>
            <a:r>
              <a:rPr lang="pl-PL" sz="2400" b="1" err="1"/>
              <a:t>enhancement</a:t>
            </a:r>
            <a:r>
              <a:rPr lang="pl-PL" sz="2400" b="1"/>
              <a:t>:      </a:t>
            </a:r>
            <a:r>
              <a:rPr lang="pl-PL" sz="2400" b="1" err="1"/>
              <a:t>internal</a:t>
            </a:r>
            <a:r>
              <a:rPr lang="pl-PL" sz="2400" b="1"/>
              <a:t> and </a:t>
            </a:r>
            <a:r>
              <a:rPr lang="pl-PL" sz="2400" b="1" err="1"/>
              <a:t>many</a:t>
            </a:r>
            <a:r>
              <a:rPr lang="pl-PL" sz="2400" b="1"/>
              <a:t> </a:t>
            </a:r>
            <a:r>
              <a:rPr lang="pl-PL" sz="2400" b="1" err="1"/>
              <a:t>external</a:t>
            </a:r>
            <a:r>
              <a:rPr lang="pl-PL" sz="2400" b="1"/>
              <a:t> </a:t>
            </a:r>
            <a:r>
              <a:rPr lang="pl-PL" sz="2400" b="1" err="1"/>
              <a:t>trainings</a:t>
            </a:r>
            <a:endParaRPr lang="pl-PL" sz="2400" b="1"/>
          </a:p>
        </p:txBody>
      </p:sp>
      <p:sp>
        <p:nvSpPr>
          <p:cNvPr id="20" name="Prostokąt 19"/>
          <p:cNvSpPr/>
          <p:nvPr/>
        </p:nvSpPr>
        <p:spPr>
          <a:xfrm>
            <a:off x="1925515" y="1266649"/>
            <a:ext cx="89681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600" b="1"/>
              <a:t>                    </a:t>
            </a:r>
            <a:r>
              <a:rPr lang="en-US" sz="1600" b="1"/>
              <a:t>Initiative of Excellence </a:t>
            </a:r>
            <a:r>
              <a:rPr lang="pl-PL" sz="1600" b="1"/>
              <a:t>–</a:t>
            </a:r>
            <a:r>
              <a:rPr lang="en-US" sz="1600" b="1"/>
              <a:t> Research University </a:t>
            </a:r>
            <a:r>
              <a:rPr lang="pl-PL" sz="1600" b="1"/>
              <a:t>(IDUB)</a:t>
            </a:r>
          </a:p>
          <a:p>
            <a:r>
              <a:rPr lang="pl-PL" sz="1600" b="1"/>
              <a:t>2024-2025 | </a:t>
            </a:r>
            <a:r>
              <a:rPr lang="en-US" sz="1600" b="1"/>
              <a:t>Actions to promote and increase awareness of Open Research Data</a:t>
            </a:r>
            <a:endParaRPr lang="pl-PL" sz="1600" b="1"/>
          </a:p>
        </p:txBody>
      </p:sp>
      <p:sp>
        <p:nvSpPr>
          <p:cNvPr id="23" name="Prostokąt 22"/>
          <p:cNvSpPr/>
          <p:nvPr/>
        </p:nvSpPr>
        <p:spPr>
          <a:xfrm>
            <a:off x="4615314" y="2162457"/>
            <a:ext cx="569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54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pl-PL" sz="5400" b="1" cap="none" spc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Prostokąt 1"/>
          <p:cNvSpPr/>
          <p:nvPr/>
        </p:nvSpPr>
        <p:spPr>
          <a:xfrm>
            <a:off x="1096107" y="4643305"/>
            <a:ext cx="95513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/>
              <a:t>05-06.09.2024 - </a:t>
            </a:r>
            <a:r>
              <a:rPr lang="pl-PL" err="1"/>
              <a:t>Make</a:t>
            </a:r>
            <a:r>
              <a:rPr lang="pl-PL"/>
              <a:t> Data </a:t>
            </a:r>
            <a:r>
              <a:rPr lang="pl-PL" err="1"/>
              <a:t>Count</a:t>
            </a:r>
            <a:r>
              <a:rPr lang="pl-PL"/>
              <a:t> </a:t>
            </a:r>
            <a:r>
              <a:rPr lang="pl-PL" err="1"/>
              <a:t>Summit</a:t>
            </a:r>
            <a:r>
              <a:rPr lang="pl-PL"/>
              <a:t>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/>
              <a:t>10-12.09.2024 - PUBMET 2024 </a:t>
            </a:r>
            <a:r>
              <a:rPr lang="en-US"/>
              <a:t>1st Summer School on Scholarly Communication</a:t>
            </a:r>
            <a:endParaRPr lang="pl-PL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err="1"/>
              <a:t>since</a:t>
            </a:r>
            <a:r>
              <a:rPr lang="pl-PL"/>
              <a:t> 14.10.2024 - </a:t>
            </a:r>
            <a:r>
              <a:rPr lang="en-US"/>
              <a:t>The University of Vienna Data Steward Certificate Course</a:t>
            </a:r>
            <a:endParaRPr lang="pl-PL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/>
              <a:t>13-14.02.2025 - </a:t>
            </a:r>
            <a:r>
              <a:rPr lang="en-US"/>
              <a:t>Train-the-Trainer Workshop on Research Data Management</a:t>
            </a:r>
            <a:endParaRPr lang="pl-PL"/>
          </a:p>
        </p:txBody>
      </p:sp>
      <p:sp>
        <p:nvSpPr>
          <p:cNvPr id="4" name="Prostokąt 3"/>
          <p:cNvSpPr/>
          <p:nvPr/>
        </p:nvSpPr>
        <p:spPr>
          <a:xfrm>
            <a:off x="1096108" y="2961668"/>
            <a:ext cx="83204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/>
              <a:t>24.05.2024 - Information </a:t>
            </a:r>
            <a:r>
              <a:rPr lang="pl-PL" err="1"/>
              <a:t>security</a:t>
            </a:r>
            <a:r>
              <a:rPr lang="pl-PL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/>
              <a:t>05.11.2024 - </a:t>
            </a:r>
            <a:r>
              <a:rPr lang="pl-PL" err="1"/>
              <a:t>Journals</a:t>
            </a:r>
            <a:r>
              <a:rPr lang="pl-PL"/>
              <a:t> </a:t>
            </a:r>
            <a:r>
              <a:rPr lang="pl-PL" err="1"/>
              <a:t>publishing</a:t>
            </a:r>
            <a:r>
              <a:rPr lang="pl-PL"/>
              <a:t> data descriptors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/>
              <a:t>21.11.2025 - Data Management </a:t>
            </a:r>
            <a:r>
              <a:rPr lang="pl-PL" err="1"/>
              <a:t>Plans</a:t>
            </a:r>
            <a:r>
              <a:rPr lang="pl-PL"/>
              <a:t> </a:t>
            </a:r>
            <a:r>
              <a:rPr lang="pl-PL" err="1"/>
              <a:t>creation</a:t>
            </a:r>
            <a:endParaRPr lang="pl-PL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/>
              <a:t>06.05.2025 - </a:t>
            </a:r>
            <a:r>
              <a:rPr lang="en-US"/>
              <a:t>Research data policy at foreign publishers of scientific journals</a:t>
            </a:r>
            <a:endParaRPr lang="pl-PL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/>
              <a:t>12.06.2025 - S</a:t>
            </a:r>
            <a:r>
              <a:rPr lang="en-US" err="1"/>
              <a:t>toring</a:t>
            </a:r>
            <a:r>
              <a:rPr lang="en-US"/>
              <a:t> and archiving large datasets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839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Łącznik prosty 4"/>
          <p:cNvCxnSpPr/>
          <p:nvPr/>
        </p:nvCxnSpPr>
        <p:spPr>
          <a:xfrm flipV="1">
            <a:off x="6086540" y="3035809"/>
            <a:ext cx="0" cy="54132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ymbol zastępczy tekstu 2"/>
          <p:cNvSpPr txBox="1">
            <a:spLocks/>
          </p:cNvSpPr>
          <p:nvPr/>
        </p:nvSpPr>
        <p:spPr>
          <a:xfrm>
            <a:off x="2267091" y="3789382"/>
            <a:ext cx="7886700" cy="20295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pl-PL" sz="2400" b="1">
                <a:solidFill>
                  <a:srgbClr val="0037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>
                <a:solidFill>
                  <a:srgbClr val="0037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beautiful, modern university with character</a:t>
            </a:r>
            <a:endParaRPr lang="pl-PL">
              <a:solidFill>
                <a:srgbClr val="003767"/>
              </a:solidFill>
              <a:latin typeface="SanukPro-Medium" pitchFamily="34" charset="-18"/>
            </a:endParaRPr>
          </a:p>
          <a:p>
            <a:pPr algn="ctr">
              <a:buFont typeface="Arial" panose="020B0604020202020204" pitchFamily="34" charset="0"/>
              <a:buNone/>
            </a:pPr>
            <a:endParaRPr lang="pl-PL">
              <a:solidFill>
                <a:srgbClr val="003767"/>
              </a:solidFill>
              <a:latin typeface="SanukPro-Medium" pitchFamily="34" charset="-18"/>
            </a:endParaRPr>
          </a:p>
          <a:p>
            <a:pPr algn="ctr">
              <a:buNone/>
            </a:pPr>
            <a:endParaRPr lang="pl-PL" sz="1400">
              <a:solidFill>
                <a:schemeClr val="bg2">
                  <a:lumMod val="90000"/>
                </a:schemeClr>
              </a:solidFill>
              <a:latin typeface="SanukPro-Medium" pitchFamily="34" charset="-18"/>
              <a:hlinkClick r:id="rId2"/>
            </a:endParaRPr>
          </a:p>
          <a:p>
            <a:pPr algn="ctr">
              <a:buNone/>
            </a:pPr>
            <a:r>
              <a:rPr lang="pl-PL" sz="1400">
                <a:solidFill>
                  <a:schemeClr val="bg2">
                    <a:lumMod val="90000"/>
                  </a:schemeClr>
                </a:solidFill>
                <a:latin typeface="SanukPro-Medium" pitchFamily="34" charset="-18"/>
                <a:hlinkClick r:id="rId3"/>
              </a:rPr>
              <a:t>https://youtu.be/1q6CMTo1xJI</a:t>
            </a:r>
            <a:endParaRPr lang="pl-PL" sz="1400">
              <a:solidFill>
                <a:schemeClr val="bg2">
                  <a:lumMod val="90000"/>
                </a:schemeClr>
              </a:solidFill>
              <a:latin typeface="SanukPro-Medium" pitchFamily="34" charset="-18"/>
            </a:endParaRPr>
          </a:p>
        </p:txBody>
      </p:sp>
      <p:pic>
        <p:nvPicPr>
          <p:cNvPr id="10" name="Picture 4" descr="Znalezione obrazy dla zapytania youtube logo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5672696" y="4378194"/>
            <a:ext cx="846608" cy="586982"/>
          </a:xfrm>
          <a:prstGeom prst="rect">
            <a:avLst/>
          </a:prstGeom>
          <a:noFill/>
        </p:spPr>
      </p:pic>
      <p:pic>
        <p:nvPicPr>
          <p:cNvPr id="8" name="Obraz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055" y="1121997"/>
            <a:ext cx="2662970" cy="157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53645"/>
      </p:ext>
    </p:extLst>
  </p:cSld>
  <p:clrMapOvr>
    <a:masterClrMapping/>
  </p:clrMapOvr>
</p:sld>
</file>

<file path=ppt/theme/theme1.xml><?xml version="1.0" encoding="utf-8"?>
<a:theme xmlns:a="http://schemas.openxmlformats.org/drawingml/2006/main" name="PG">
  <a:themeElements>
    <a:clrScheme name="PG">
      <a:dk1>
        <a:srgbClr val="003767"/>
      </a:dk1>
      <a:lt1>
        <a:sysClr val="window" lastClr="FFFFFF"/>
      </a:lt1>
      <a:dk2>
        <a:srgbClr val="44546A"/>
      </a:dk2>
      <a:lt2>
        <a:srgbClr val="E7E6E6"/>
      </a:lt2>
      <a:accent1>
        <a:srgbClr val="E31B23"/>
      </a:accent1>
      <a:accent2>
        <a:srgbClr val="003767"/>
      </a:accent2>
      <a:accent3>
        <a:srgbClr val="B9DEFF"/>
      </a:accent3>
      <a:accent4>
        <a:srgbClr val="737577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iestandardowy 2">
      <a:majorFont>
        <a:latin typeface="SanukPro-Medium"/>
        <a:ea typeface=""/>
        <a:cs typeface=""/>
      </a:majorFont>
      <a:minorFont>
        <a:latin typeface="SanukPro-Light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ja3" id="{D0BDE39D-86B0-4351-98C7-2F0027CEB9D1}" vid="{8DEA3497-1FC6-4C77-8314-304DE8BC6512}"/>
    </a:ext>
  </a:extLst>
</a:theme>
</file>

<file path=ppt/theme/theme2.xml><?xml version="1.0" encoding="utf-8"?>
<a:theme xmlns:a="http://schemas.openxmlformats.org/drawingml/2006/main" name="1_Projekt niestandardowy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rojekt niestandardowy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6760356-0022-486f-b793-a2d470bba5a5}" enabled="0" method="" siteId="{86760356-0022-486f-b793-a2d470bba5a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Szablon</Template>
  <TotalTime>1</TotalTime>
  <Words>543</Words>
  <Application>Microsoft Office PowerPoint</Application>
  <PresentationFormat>Panoramiczny</PresentationFormat>
  <Paragraphs>75</Paragraphs>
  <Slides>7</Slides>
  <Notes>6</Notes>
  <HiddenSlides>0</HiddenSlides>
  <MMClips>0</MMClips>
  <ScaleCrop>false</ScaleCrop>
  <HeadingPairs>
    <vt:vector size="8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3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SanukPro-Light</vt:lpstr>
      <vt:lpstr>SanukPro-Medium</vt:lpstr>
      <vt:lpstr>Wingdings</vt:lpstr>
      <vt:lpstr>PG</vt:lpstr>
      <vt:lpstr>1_Projekt niestandardowy</vt:lpstr>
      <vt:lpstr>Projekt niestandardowy</vt:lpstr>
      <vt:lpstr>Arkusz</vt:lpstr>
      <vt:lpstr>Prezentacja programu PowerPoint</vt:lpstr>
      <vt:lpstr>…by practice</vt:lpstr>
      <vt:lpstr>…by practice </vt:lpstr>
      <vt:lpstr>… by participation in projects </vt:lpstr>
      <vt:lpstr>… by participation in projects </vt:lpstr>
      <vt:lpstr>… by participation in tranings 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Ewa</dc:creator>
  <cp:lastModifiedBy>Piotr Krajewski</cp:lastModifiedBy>
  <cp:revision>22</cp:revision>
  <cp:lastPrinted>2024-06-12T10:07:56Z</cp:lastPrinted>
  <dcterms:created xsi:type="dcterms:W3CDTF">2017-05-26T10:51:07Z</dcterms:created>
  <dcterms:modified xsi:type="dcterms:W3CDTF">2025-05-20T07:11:13Z</dcterms:modified>
</cp:coreProperties>
</file>