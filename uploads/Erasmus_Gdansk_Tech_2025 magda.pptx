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SanukPro-Light"/>
        <a:ea typeface="SanukPro-Light"/>
        <a:cs typeface="SanukPro-Light"/>
        <a:sym typeface="SanukPro-Ligh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SanukPro-Light"/>
        <a:ea typeface="SanukPro-Light"/>
        <a:cs typeface="SanukPro-Light"/>
        <a:sym typeface="SanukPro-Ligh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SanukPro-Light"/>
        <a:ea typeface="SanukPro-Light"/>
        <a:cs typeface="SanukPro-Light"/>
        <a:sym typeface="SanukPro-Ligh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SanukPro-Light"/>
        <a:ea typeface="SanukPro-Light"/>
        <a:cs typeface="SanukPro-Light"/>
        <a:sym typeface="SanukPro-Ligh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SanukPro-Light"/>
        <a:ea typeface="SanukPro-Light"/>
        <a:cs typeface="SanukPro-Light"/>
        <a:sym typeface="SanukPro-Ligh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SanukPro-Light"/>
        <a:ea typeface="SanukPro-Light"/>
        <a:cs typeface="SanukPro-Light"/>
        <a:sym typeface="SanukPro-Ligh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SanukPro-Light"/>
        <a:ea typeface="SanukPro-Light"/>
        <a:cs typeface="SanukPro-Light"/>
        <a:sym typeface="SanukPro-Ligh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SanukPro-Light"/>
        <a:ea typeface="SanukPro-Light"/>
        <a:cs typeface="SanukPro-Light"/>
        <a:sym typeface="SanukPro-Ligh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SanukPro-Light"/>
        <a:ea typeface="SanukPro-Light"/>
        <a:cs typeface="SanukPro-Light"/>
        <a:sym typeface="SanukPro-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136E59-1406-6199-0ED8-F321F69334D4}" v="1" dt="2025-05-20T06:31:23.94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4CBCB"/>
          </a:solidFill>
        </a:fill>
      </a:tcStyle>
    </a:wholeTbl>
    <a:band2H>
      <a:tcTxStyle/>
      <a:tcStyle>
        <a:tcBdr/>
        <a:fill>
          <a:solidFill>
            <a:srgbClr val="FAE7E7"/>
          </a:solidFill>
        </a:fill>
      </a:tcStyle>
    </a:band2H>
    <a:firstCol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6F2FF"/>
          </a:solidFill>
        </a:fill>
      </a:tcStyle>
    </a:wholeTbl>
    <a:band2H>
      <a:tcTxStyle/>
      <a:tcStyle>
        <a:tcBdr/>
        <a:fill>
          <a:solidFill>
            <a:srgbClr val="F3F9FF"/>
          </a:solidFill>
        </a:fill>
      </a:tcStyle>
    </a:band2H>
    <a:firstCol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7EA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2"/>
              </a:solidFill>
              <a:prstDash val="solid"/>
              <a:round/>
            </a:ln>
          </a:top>
          <a:bottom>
            <a:ln w="254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2"/>
              </a:solidFill>
              <a:prstDash val="solid"/>
              <a:round/>
            </a:ln>
          </a:top>
          <a:bottom>
            <a:ln w="254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CD2"/>
          </a:solidFill>
        </a:fill>
      </a:tcStyle>
    </a:wholeTbl>
    <a:band2H>
      <a:tcTxStyle/>
      <a:tcStyle>
        <a:tcBdr/>
        <a:fill>
          <a:solidFill>
            <a:srgbClr val="E6E7EA"/>
          </a:solidFill>
        </a:fill>
      </a:tcStyle>
    </a:band2H>
    <a:firstCol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anukPro-Light"/>
          <a:ea typeface="SanukPro-Light"/>
          <a:cs typeface="SanukPro-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>
              <a:alpha val="20000"/>
            </a:schemeClr>
          </a:solidFill>
        </a:fill>
      </a:tcStyle>
    </a:firstCol>
    <a:lastRow>
      <a:tcTxStyle b="on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508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SanukPro-Light"/>
          <a:ea typeface="SanukPro-Light"/>
          <a:cs typeface="SanukPro-Light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254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otr Krajewski" userId="S::piokraj1@pg.edu.pl::a000f683-fce2-403c-8193-b199155ba40e" providerId="AD" clId="Web-{9D136E59-1406-6199-0ED8-F321F69334D4}"/>
    <pc:docChg chg="addSld">
      <pc:chgData name="Piotr Krajewski" userId="S::piokraj1@pg.edu.pl::a000f683-fce2-403c-8193-b199155ba40e" providerId="AD" clId="Web-{9D136E59-1406-6199-0ED8-F321F69334D4}" dt="2025-05-20T06:31:23.944" v="0"/>
      <pc:docMkLst>
        <pc:docMk/>
      </pc:docMkLst>
      <pc:sldChg chg="new">
        <pc:chgData name="Piotr Krajewski" userId="S::piokraj1@pg.edu.pl::a000f683-fce2-403c-8193-b199155ba40e" providerId="AD" clId="Web-{9D136E59-1406-6199-0ED8-F321F69334D4}" dt="2025-05-20T06:31:23.944" v="0"/>
        <pc:sldMkLst>
          <pc:docMk/>
          <pc:sldMk cId="1235618623" sldId="26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l-PL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2921E-2"/>
          <c:y val="3.8352499999999998E-2"/>
          <c:w val="0.92207899999999998"/>
          <c:h val="0.829392000000000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Seria 3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Kategoria 4</c:v>
                </c:pt>
                <c:pt idx="1">
                  <c:v>Kategoria 3</c:v>
                </c:pt>
                <c:pt idx="2">
                  <c:v>Kategoria 2</c:v>
                </c:pt>
                <c:pt idx="3">
                  <c:v>Kategoria 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1C-4754-AE6F-F66D775CB7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Seria 2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Kategoria 4</c:v>
                </c:pt>
                <c:pt idx="1">
                  <c:v>Kategoria 3</c:v>
                </c:pt>
                <c:pt idx="2">
                  <c:v>Kategoria 2</c:v>
                </c:pt>
                <c:pt idx="3">
                  <c:v>Kategoria 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</c:v>
                </c:pt>
                <c:pt idx="1">
                  <c:v>1.8</c:v>
                </c:pt>
                <c:pt idx="2">
                  <c:v>8</c:v>
                </c:pt>
                <c:pt idx="3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1C-4754-AE6F-F66D775CB77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Seria 1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Kategoria 4</c:v>
                </c:pt>
                <c:pt idx="1">
                  <c:v>Kategoria 3</c:v>
                </c:pt>
                <c:pt idx="2">
                  <c:v>Kategoria 2</c:v>
                </c:pt>
                <c:pt idx="3">
                  <c:v>Kategoria 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4.5</c:v>
                </c:pt>
                <c:pt idx="1">
                  <c:v>3.5</c:v>
                </c:pt>
                <c:pt idx="2">
                  <c:v>2.5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1C-4754-AE6F-F66D775CB7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C2E3FF"/>
            </a:solidFill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003767"/>
                </a:solidFill>
                <a:latin typeface="Arial"/>
              </a:defRPr>
            </a:pPr>
            <a:endParaRPr lang="pl-PL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C2E3FF"/>
              </a:solidFill>
              <a:prstDash val="solid"/>
              <a:round/>
            </a:ln>
          </c:spPr>
        </c:majorGridlines>
        <c:numFmt formatCode="0.#" sourceLinked="0"/>
        <c:majorTickMark val="none"/>
        <c:minorTickMark val="none"/>
        <c:tickLblPos val="high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003767"/>
                </a:solidFill>
                <a:latin typeface="Arial"/>
              </a:defRPr>
            </a:pPr>
            <a:endParaRPr lang="pl-PL"/>
          </a:p>
        </c:txPr>
        <c:crossAx val="2094734552"/>
        <c:crosses val="autoZero"/>
        <c:crossBetween val="between"/>
        <c:majorUnit val="2"/>
        <c:minorUnit val="1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40140300000000001"/>
          <c:y val="0.94914699999999996"/>
          <c:w val="0.208123"/>
          <c:h val="5.0852500000000002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900" b="0" i="0" u="none" strike="noStrike">
              <a:solidFill>
                <a:srgbClr val="003767"/>
              </a:solidFill>
              <a:latin typeface="Arial"/>
            </a:defRPr>
          </a:pPr>
          <a:endParaRPr lang="pl-P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l-PL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5415300000000001"/>
          <c:y val="5.0000000000000001E-3"/>
          <c:w val="0.691693"/>
          <c:h val="0.87587700000000002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Sprzedaż</c:v>
                </c:pt>
              </c:strCache>
            </c:strRef>
          </c:tx>
          <c:spPr>
            <a:solidFill>
              <a:schemeClr val="accent1"/>
            </a:solidFill>
            <a:ln w="19050" cap="flat">
              <a:solidFill>
                <a:srgbClr val="FFFFFF"/>
              </a:solidFill>
              <a:prstDash val="solid"/>
              <a:round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F4A2-4482-90A8-D1036D085A9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A2-4482-90A8-D1036D085A9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F4A2-4482-90A8-D1036D085A94}"/>
              </c:ext>
            </c:extLst>
          </c:dPt>
          <c:dPt>
            <c:idx val="3"/>
            <c:bubble3D val="0"/>
            <c:spPr>
              <a:solidFill>
                <a:srgbClr val="5CB3F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A2-4482-90A8-D1036D085A94}"/>
              </c:ext>
            </c:extLst>
          </c:dPt>
          <c:cat>
            <c:strRef>
              <c:f>Sheet1!$B$1:$E$1</c:f>
              <c:strCache>
                <c:ptCount val="4"/>
                <c:pt idx="0">
                  <c:v>1. kwartał</c:v>
                </c:pt>
                <c:pt idx="1">
                  <c:v>2. kwartał</c:v>
                </c:pt>
                <c:pt idx="2">
                  <c:v>3. kwartał</c:v>
                </c:pt>
                <c:pt idx="3">
                  <c:v>4. kwartał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A2-4482-90A8-D1036D085A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"/>
          <c:y val="0.93978700000000004"/>
          <c:w val="1"/>
          <c:h val="6.02134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900" b="0" i="0" u="none" strike="noStrike">
              <a:solidFill>
                <a:srgbClr val="003767"/>
              </a:solidFill>
              <a:latin typeface="Arial"/>
            </a:defRPr>
          </a:pPr>
          <a:endParaRPr lang="pl-PL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90" name="Shape 3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ytuł i zawartoś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3" descr="Obraz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566" y="1595000"/>
            <a:ext cx="2996856" cy="16256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Tekst tytułowy"/>
          <p:cNvSpPr txBox="1">
            <a:spLocks noGrp="1"/>
          </p:cNvSpPr>
          <p:nvPr>
            <p:ph type="title"/>
          </p:nvPr>
        </p:nvSpPr>
        <p:spPr>
          <a:xfrm>
            <a:off x="2409600" y="4406901"/>
            <a:ext cx="7420800" cy="1362076"/>
          </a:xfrm>
          <a:prstGeom prst="rect">
            <a:avLst/>
          </a:prstGeom>
        </p:spPr>
        <p:txBody>
          <a:bodyPr anchor="t"/>
          <a:lstStyle>
            <a:lvl1pPr algn="ctr">
              <a:defRPr sz="2600">
                <a:solidFill>
                  <a:srgbClr val="FFFFFF"/>
                </a:solidFill>
              </a:defRPr>
            </a:lvl1pPr>
          </a:lstStyle>
          <a:p>
            <a:r>
              <a:t>Tekst tytułowy</a:t>
            </a:r>
          </a:p>
        </p:txBody>
      </p:sp>
      <p:sp>
        <p:nvSpPr>
          <p:cNvPr id="13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2409600" y="5615473"/>
            <a:ext cx="7420801" cy="355479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200"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lvl1pPr>
            <a:lvl2pPr marL="457200" indent="-114300" algn="ctr">
              <a:buFontTx/>
              <a:defRPr sz="1200"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lvl2pPr>
            <a:lvl3pPr marL="822960" indent="-137160" algn="ctr">
              <a:buFontTx/>
              <a:defRPr sz="1200"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lvl3pPr>
            <a:lvl4pPr marL="1186961" indent="-158261" algn="ctr">
              <a:buFontTx/>
              <a:defRPr sz="1200"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lvl4pPr>
            <a:lvl5pPr marL="1529861" indent="-158261" algn="ctr">
              <a:buFontTx/>
              <a:defRPr sz="1200"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14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sp>
        <p:nvSpPr>
          <p:cNvPr id="22" name="Treść - poziom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2817297"/>
            <a:ext cx="9144000" cy="165576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accent1"/>
              </a:buClr>
              <a:buFontTx/>
              <a:buChar char="▪"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0" indent="3429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0" indent="6858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3pPr>
            <a:lvl4pPr marL="0" indent="10287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4pPr>
            <a:lvl5pPr marL="0" indent="13716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Kliknij, aby edytować styl wzorca tekstu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23" name="Obraz 2" descr="Obraz 2"/>
          <p:cNvPicPr>
            <a:picLocks noChangeAspect="1"/>
          </p:cNvPicPr>
          <p:nvPr/>
        </p:nvPicPr>
        <p:blipFill>
          <a:blip r:embed="rId2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ytuł 1"/>
          <p:cNvSpPr/>
          <p:nvPr/>
        </p:nvSpPr>
        <p:spPr>
          <a:xfrm>
            <a:off x="0" y="1431394"/>
            <a:ext cx="12192000" cy="79495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defTabSz="685800">
              <a:lnSpc>
                <a:spcPct val="90000"/>
              </a:lnSpc>
              <a:defRPr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pPr>
            <a:endParaRPr/>
          </a:p>
        </p:txBody>
      </p:sp>
      <p:sp>
        <p:nvSpPr>
          <p:cNvPr id="25" name="Symbol zastępczy tekstu 5"/>
          <p:cNvSpPr>
            <a:spLocks noGrp="1"/>
          </p:cNvSpPr>
          <p:nvPr>
            <p:ph type="body" sz="quarter" idx="21"/>
          </p:nvPr>
        </p:nvSpPr>
        <p:spPr>
          <a:xfrm>
            <a:off x="697360" y="1687760"/>
            <a:ext cx="5585885" cy="40671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26" name="Obraz 8" descr="Obraz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Łącznik prosty 11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kst tytułow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Tekst tytułowy</a:t>
            </a:r>
          </a:p>
        </p:txBody>
      </p:sp>
      <p:sp>
        <p:nvSpPr>
          <p:cNvPr id="36" name="Numer slajd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kst tytułowy"/>
          <p:cNvSpPr txBox="1">
            <a:spLocks noGrp="1"/>
          </p:cNvSpPr>
          <p:nvPr>
            <p:ph type="title"/>
          </p:nvPr>
        </p:nvSpPr>
        <p:spPr>
          <a:xfrm>
            <a:off x="3349450" y="536729"/>
            <a:ext cx="4614149" cy="281638"/>
          </a:xfrm>
          <a:prstGeom prst="rect">
            <a:avLst/>
          </a:prstGeom>
        </p:spPr>
        <p:txBody>
          <a:bodyPr anchor="t"/>
          <a:lstStyle>
            <a:lvl1pPr>
              <a:defRPr sz="16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sp>
        <p:nvSpPr>
          <p:cNvPr id="44" name="Łącznik prosty 10"/>
          <p:cNvSpPr/>
          <p:nvPr/>
        </p:nvSpPr>
        <p:spPr>
          <a:xfrm>
            <a:off x="3062412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5" name="Obraz 7" descr="Obraz 7"/>
          <p:cNvPicPr>
            <a:picLocks noChangeAspect="1"/>
          </p:cNvPicPr>
          <p:nvPr/>
        </p:nvPicPr>
        <p:blipFill>
          <a:blip r:embed="rId2"/>
          <a:srcRect t="35030" b="36362"/>
          <a:stretch>
            <a:fillRect/>
          </a:stretch>
        </p:blipFill>
        <p:spPr>
          <a:xfrm>
            <a:off x="1273028" y="432012"/>
            <a:ext cx="1757636" cy="7115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Obraz 9" descr="Obraz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28" y="567548"/>
            <a:ext cx="680520" cy="401938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Wykres 27"/>
          <p:cNvGraphicFramePr/>
          <p:nvPr/>
        </p:nvGraphicFramePr>
        <p:xfrm>
          <a:off x="1079615" y="2576774"/>
          <a:ext cx="10024720" cy="32138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57" name="Tytuł 1"/>
          <p:cNvGrpSpPr/>
          <p:nvPr/>
        </p:nvGrpSpPr>
        <p:grpSpPr>
          <a:xfrm>
            <a:off x="0" y="1439141"/>
            <a:ext cx="7053945" cy="457108"/>
            <a:chOff x="0" y="0"/>
            <a:chExt cx="7053943" cy="457106"/>
          </a:xfrm>
        </p:grpSpPr>
        <p:sp>
          <p:nvSpPr>
            <p:cNvPr id="55" name="Prostokąt"/>
            <p:cNvSpPr/>
            <p:nvPr/>
          </p:nvSpPr>
          <p:spPr>
            <a:xfrm>
              <a:off x="-1" y="-1"/>
              <a:ext cx="7053945" cy="457108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685800">
                <a:lnSpc>
                  <a:spcPct val="90000"/>
                </a:lnSpc>
                <a:defRPr sz="1600">
                  <a:latin typeface="SanukPro-Medium"/>
                  <a:ea typeface="SanukPro-Medium"/>
                  <a:cs typeface="SanukPro-Medium"/>
                  <a:sym typeface="SanukPro-Medium"/>
                </a:defRPr>
              </a:pPr>
              <a:endParaRPr/>
            </a:p>
          </p:txBody>
        </p:sp>
        <p:sp>
          <p:nvSpPr>
            <p:cNvPr id="56" name="Kliknij, aby edytować styl"/>
            <p:cNvSpPr txBox="1"/>
            <p:nvPr/>
          </p:nvSpPr>
          <p:spPr>
            <a:xfrm>
              <a:off x="782280" y="62279"/>
              <a:ext cx="6225944" cy="350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defTabSz="685800">
                <a:lnSpc>
                  <a:spcPct val="90000"/>
                </a:lnSpc>
                <a:defRPr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Kliknij, aby edytować styl</a:t>
              </a:r>
            </a:p>
          </p:txBody>
        </p:sp>
      </p:grpSp>
      <p:sp>
        <p:nvSpPr>
          <p:cNvPr id="58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pic>
        <p:nvPicPr>
          <p:cNvPr id="59" name="Obraz 2" descr="Obraz 2"/>
          <p:cNvPicPr>
            <a:picLocks noChangeAspect="1"/>
          </p:cNvPicPr>
          <p:nvPr/>
        </p:nvPicPr>
        <p:blipFill>
          <a:blip r:embed="rId3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Obraz 8" descr="Obraz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Łącznik prosty 9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ytuł 1"/>
          <p:cNvSpPr/>
          <p:nvPr/>
        </p:nvSpPr>
        <p:spPr>
          <a:xfrm>
            <a:off x="0" y="1439142"/>
            <a:ext cx="7053945" cy="45710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defTabSz="685800">
              <a:lnSpc>
                <a:spcPct val="90000"/>
              </a:lnSpc>
              <a:defRPr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pPr>
            <a:endParaRPr/>
          </a:p>
        </p:txBody>
      </p:sp>
      <p:graphicFrame>
        <p:nvGraphicFramePr>
          <p:cNvPr id="70" name="Wykres 4"/>
          <p:cNvGraphicFramePr/>
          <p:nvPr/>
        </p:nvGraphicFramePr>
        <p:xfrm>
          <a:off x="1941653" y="2771500"/>
          <a:ext cx="3317936" cy="2583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1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697361" y="1476743"/>
            <a:ext cx="5585884" cy="40671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14350" indent="-171450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91539" indent="-205739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66092" indent="-237392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608992" indent="-237392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72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pic>
        <p:nvPicPr>
          <p:cNvPr id="73" name="Obraz 2" descr="Obraz 2"/>
          <p:cNvPicPr>
            <a:picLocks noChangeAspect="1"/>
          </p:cNvPicPr>
          <p:nvPr/>
        </p:nvPicPr>
        <p:blipFill>
          <a:blip r:embed="rId3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Obraz 12" descr="Obraz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Łącznik prosty 13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ytuł 1"/>
          <p:cNvSpPr/>
          <p:nvPr/>
        </p:nvSpPr>
        <p:spPr>
          <a:xfrm>
            <a:off x="0" y="1439142"/>
            <a:ext cx="7053945" cy="45710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defTabSz="685800">
              <a:lnSpc>
                <a:spcPct val="90000"/>
              </a:lnSpc>
              <a:defRPr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pPr>
            <a:endParaRPr/>
          </a:p>
        </p:txBody>
      </p:sp>
      <p:sp>
        <p:nvSpPr>
          <p:cNvPr id="84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697361" y="1476743"/>
            <a:ext cx="5585884" cy="40671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14350" indent="-171450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91539" indent="-205739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66092" indent="-237392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608992" indent="-237392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85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pic>
        <p:nvPicPr>
          <p:cNvPr id="86" name="Obraz 2" descr="Obraz 2"/>
          <p:cNvPicPr>
            <a:picLocks noChangeAspect="1"/>
          </p:cNvPicPr>
          <p:nvPr/>
        </p:nvPicPr>
        <p:blipFill>
          <a:blip r:embed="rId2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Obraz 9" descr="Obraz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Łącznik prosty 12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Obiekt 6"/>
          <p:cNvGrpSpPr/>
          <p:nvPr/>
        </p:nvGrpSpPr>
        <p:grpSpPr>
          <a:xfrm>
            <a:off x="1121832" y="2517775"/>
            <a:ext cx="6292853" cy="2012950"/>
            <a:chOff x="0" y="0"/>
            <a:chExt cx="6292851" cy="2012950"/>
          </a:xfrm>
        </p:grpSpPr>
        <p:sp>
          <p:nvSpPr>
            <p:cNvPr id="96" name="Prostokąt"/>
            <p:cNvSpPr/>
            <p:nvPr/>
          </p:nvSpPr>
          <p:spPr>
            <a:xfrm>
              <a:off x="0" y="0"/>
              <a:ext cx="6292852" cy="201295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pic>
          <p:nvPicPr>
            <p:cNvPr id="97" name="image6.pdf" descr="image6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292852" cy="2012950"/>
            </a:xfrm>
            <a:prstGeom prst="rect">
              <a:avLst/>
            </a:prstGeom>
            <a:ln w="9525" cap="flat">
              <a:solidFill>
                <a:schemeClr val="accent2"/>
              </a:solidFill>
              <a:prstDash val="solid"/>
              <a:miter lim="800000"/>
            </a:ln>
            <a:effectLst/>
          </p:spPr>
        </p:pic>
      </p:grpSp>
      <p:grpSp>
        <p:nvGrpSpPr>
          <p:cNvPr id="101" name="Tytuł 1"/>
          <p:cNvGrpSpPr/>
          <p:nvPr/>
        </p:nvGrpSpPr>
        <p:grpSpPr>
          <a:xfrm>
            <a:off x="0" y="1439141"/>
            <a:ext cx="7053945" cy="457108"/>
            <a:chOff x="0" y="0"/>
            <a:chExt cx="7053943" cy="457106"/>
          </a:xfrm>
        </p:grpSpPr>
        <p:sp>
          <p:nvSpPr>
            <p:cNvPr id="99" name="Prostokąt"/>
            <p:cNvSpPr/>
            <p:nvPr/>
          </p:nvSpPr>
          <p:spPr>
            <a:xfrm>
              <a:off x="-1" y="-1"/>
              <a:ext cx="7053945" cy="457108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685800">
                <a:lnSpc>
                  <a:spcPct val="90000"/>
                </a:lnSpc>
                <a:defRPr sz="1600">
                  <a:latin typeface="SanukPro-Medium"/>
                  <a:ea typeface="SanukPro-Medium"/>
                  <a:cs typeface="SanukPro-Medium"/>
                  <a:sym typeface="SanukPro-Medium"/>
                </a:defRPr>
              </a:pPr>
              <a:endParaRPr/>
            </a:p>
          </p:txBody>
        </p:sp>
        <p:sp>
          <p:nvSpPr>
            <p:cNvPr id="100" name="Kliknij, aby edytować styl"/>
            <p:cNvSpPr txBox="1"/>
            <p:nvPr/>
          </p:nvSpPr>
          <p:spPr>
            <a:xfrm>
              <a:off x="782280" y="62279"/>
              <a:ext cx="6225944" cy="350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defTabSz="685800">
                <a:lnSpc>
                  <a:spcPct val="90000"/>
                </a:lnSpc>
                <a:defRPr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Kliknij, aby edytować styl</a:t>
              </a:r>
            </a:p>
          </p:txBody>
        </p:sp>
      </p:grpSp>
      <p:pic>
        <p:nvPicPr>
          <p:cNvPr id="102" name="Obraz 13" descr="Obraz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3934294" cy="493819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pic>
        <p:nvPicPr>
          <p:cNvPr id="104" name="Obraz 2" descr="Obraz 2"/>
          <p:cNvPicPr>
            <a:picLocks noChangeAspect="1"/>
          </p:cNvPicPr>
          <p:nvPr/>
        </p:nvPicPr>
        <p:blipFill>
          <a:blip r:embed="rId4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Obraz 9" descr="Obraz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Łącznik prosty 14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ytuł 1"/>
          <p:cNvSpPr/>
          <p:nvPr/>
        </p:nvSpPr>
        <p:spPr>
          <a:xfrm>
            <a:off x="0" y="1439142"/>
            <a:ext cx="7053945" cy="45710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defTabSz="685800">
              <a:lnSpc>
                <a:spcPct val="90000"/>
              </a:lnSpc>
              <a:defRPr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pPr>
            <a:endParaRPr/>
          </a:p>
        </p:txBody>
      </p:sp>
      <p:sp>
        <p:nvSpPr>
          <p:cNvPr id="115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697361" y="1476743"/>
            <a:ext cx="5585884" cy="40671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14350" indent="-171450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91539" indent="-205739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66092" indent="-237392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608992" indent="-237392">
              <a:buFontTx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116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pic>
        <p:nvPicPr>
          <p:cNvPr id="117" name="Obraz 2" descr="Obraz 2"/>
          <p:cNvPicPr>
            <a:picLocks noChangeAspect="1"/>
          </p:cNvPicPr>
          <p:nvPr/>
        </p:nvPicPr>
        <p:blipFill>
          <a:blip r:embed="rId2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Obraz 9" descr="Obraz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Łącznik prosty 12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reść - poziom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37199" y="2032437"/>
            <a:ext cx="9144001" cy="1655763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accent1"/>
              </a:buClr>
              <a:buFontTx/>
              <a:buChar char="▪"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0" indent="3429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0" indent="6858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3pPr>
            <a:lvl4pPr marL="0" indent="10287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4pPr>
            <a:lvl5pPr marL="0" indent="13716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Kliknij, aby edytować styl wzorca tekstu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Prostokąt 1"/>
          <p:cNvSpPr/>
          <p:nvPr/>
        </p:nvSpPr>
        <p:spPr>
          <a:xfrm>
            <a:off x="-1" y="4612935"/>
            <a:ext cx="3945601" cy="2251078"/>
          </a:xfrm>
          <a:prstGeom prst="rect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9" name="Prostokąt 12"/>
          <p:cNvSpPr/>
          <p:nvPr/>
        </p:nvSpPr>
        <p:spPr>
          <a:xfrm>
            <a:off x="3945599" y="4612935"/>
            <a:ext cx="4339202" cy="2246209"/>
          </a:xfrm>
          <a:prstGeom prst="rect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Prostokąt 13"/>
          <p:cNvSpPr/>
          <p:nvPr/>
        </p:nvSpPr>
        <p:spPr>
          <a:xfrm>
            <a:off x="8284799" y="4615265"/>
            <a:ext cx="3893854" cy="2246210"/>
          </a:xfrm>
          <a:prstGeom prst="rect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1" name="Tytuł 1"/>
          <p:cNvSpPr txBox="1"/>
          <p:nvPr/>
        </p:nvSpPr>
        <p:spPr>
          <a:xfrm>
            <a:off x="997737" y="5548002"/>
            <a:ext cx="1556529" cy="28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685800">
              <a:lnSpc>
                <a:spcPct val="90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foto</a:t>
            </a:r>
          </a:p>
        </p:txBody>
      </p:sp>
      <p:sp>
        <p:nvSpPr>
          <p:cNvPr id="132" name="Tytuł 1"/>
          <p:cNvSpPr txBox="1"/>
          <p:nvPr/>
        </p:nvSpPr>
        <p:spPr>
          <a:xfrm>
            <a:off x="5336938" y="5548002"/>
            <a:ext cx="1556528" cy="28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685800">
              <a:lnSpc>
                <a:spcPct val="90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foto</a:t>
            </a:r>
          </a:p>
        </p:txBody>
      </p:sp>
      <p:sp>
        <p:nvSpPr>
          <p:cNvPr id="133" name="Tytuł 1"/>
          <p:cNvSpPr txBox="1"/>
          <p:nvPr/>
        </p:nvSpPr>
        <p:spPr>
          <a:xfrm>
            <a:off x="9520136" y="5548002"/>
            <a:ext cx="1556528" cy="28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685800">
              <a:lnSpc>
                <a:spcPct val="90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foto</a:t>
            </a:r>
          </a:p>
        </p:txBody>
      </p:sp>
      <p:sp>
        <p:nvSpPr>
          <p:cNvPr id="134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pic>
        <p:nvPicPr>
          <p:cNvPr id="135" name="Obraz 2" descr="Obraz 2"/>
          <p:cNvPicPr>
            <a:picLocks noChangeAspect="1"/>
          </p:cNvPicPr>
          <p:nvPr/>
        </p:nvPicPr>
        <p:blipFill>
          <a:blip r:embed="rId2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Obraz 18" descr="Obraz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Łącznik prosty 19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reść - poziom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398433" y="1630249"/>
            <a:ext cx="6682768" cy="2057952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accent1"/>
              </a:buClr>
              <a:buFontTx/>
              <a:buChar char="▪"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0" indent="3429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0" indent="6858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3pPr>
            <a:lvl4pPr marL="0" indent="10287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4pPr>
            <a:lvl5pPr marL="0" indent="13716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Kliknij, aby edytować styl wzorca tekstu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6" name="Prostokąt 1"/>
          <p:cNvSpPr/>
          <p:nvPr/>
        </p:nvSpPr>
        <p:spPr>
          <a:xfrm>
            <a:off x="-1" y="4310743"/>
            <a:ext cx="3945601" cy="2553270"/>
          </a:xfrm>
          <a:prstGeom prst="rect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7" name="Prostokąt 12"/>
          <p:cNvSpPr/>
          <p:nvPr/>
        </p:nvSpPr>
        <p:spPr>
          <a:xfrm>
            <a:off x="-1" y="1630248"/>
            <a:ext cx="3945601" cy="2680495"/>
          </a:xfrm>
          <a:prstGeom prst="rect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8" name="Tytuł 1"/>
          <p:cNvSpPr txBox="1"/>
          <p:nvPr/>
        </p:nvSpPr>
        <p:spPr>
          <a:xfrm>
            <a:off x="997737" y="5548002"/>
            <a:ext cx="1556529" cy="28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685800">
              <a:lnSpc>
                <a:spcPct val="90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foto</a:t>
            </a:r>
          </a:p>
        </p:txBody>
      </p:sp>
      <p:sp>
        <p:nvSpPr>
          <p:cNvPr id="149" name="Tytuł 1"/>
          <p:cNvSpPr txBox="1"/>
          <p:nvPr/>
        </p:nvSpPr>
        <p:spPr>
          <a:xfrm>
            <a:off x="997737" y="2714175"/>
            <a:ext cx="1556529" cy="28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685800">
              <a:lnSpc>
                <a:spcPct val="90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foto</a:t>
            </a:r>
          </a:p>
        </p:txBody>
      </p:sp>
      <p:sp>
        <p:nvSpPr>
          <p:cNvPr id="150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pic>
        <p:nvPicPr>
          <p:cNvPr id="151" name="Obraz 2" descr="Obraz 2"/>
          <p:cNvPicPr>
            <a:picLocks noChangeAspect="1"/>
          </p:cNvPicPr>
          <p:nvPr/>
        </p:nvPicPr>
        <p:blipFill>
          <a:blip r:embed="rId2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Obraz 10" descr="Obraz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Łącznik prosty 13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reść - poziom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96647" y="2618438"/>
            <a:ext cx="5982553" cy="1655762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accent1"/>
              </a:buClr>
              <a:buFontTx/>
              <a:buChar char="▪"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0" indent="3429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0" indent="6858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3pPr>
            <a:lvl4pPr marL="0" indent="10287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4pPr>
            <a:lvl5pPr marL="0" indent="13716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Kliknij, aby edytować styl wzorca tekstu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2" name="Prostokąt 1"/>
          <p:cNvSpPr/>
          <p:nvPr/>
        </p:nvSpPr>
        <p:spPr>
          <a:xfrm>
            <a:off x="7276493" y="1490509"/>
            <a:ext cx="4915506" cy="2635092"/>
          </a:xfrm>
          <a:prstGeom prst="rect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3" name="Prostokąt 13"/>
          <p:cNvSpPr/>
          <p:nvPr/>
        </p:nvSpPr>
        <p:spPr>
          <a:xfrm>
            <a:off x="7276493" y="4125600"/>
            <a:ext cx="4902161" cy="2735875"/>
          </a:xfrm>
          <a:prstGeom prst="rect">
            <a:avLst/>
          </a:prstGeom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4" name="Tytuł 1"/>
          <p:cNvSpPr txBox="1"/>
          <p:nvPr/>
        </p:nvSpPr>
        <p:spPr>
          <a:xfrm>
            <a:off x="8955982" y="2578682"/>
            <a:ext cx="1556528" cy="28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685800">
              <a:lnSpc>
                <a:spcPct val="90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foto</a:t>
            </a:r>
          </a:p>
        </p:txBody>
      </p:sp>
      <p:sp>
        <p:nvSpPr>
          <p:cNvPr id="165" name="Tytuł 1"/>
          <p:cNvSpPr txBox="1"/>
          <p:nvPr/>
        </p:nvSpPr>
        <p:spPr>
          <a:xfrm>
            <a:off x="8949309" y="5337142"/>
            <a:ext cx="1556528" cy="28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685800">
              <a:lnSpc>
                <a:spcPct val="90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foto</a:t>
            </a:r>
          </a:p>
        </p:txBody>
      </p:sp>
      <p:grpSp>
        <p:nvGrpSpPr>
          <p:cNvPr id="168" name="Tytuł 1"/>
          <p:cNvGrpSpPr/>
          <p:nvPr/>
        </p:nvGrpSpPr>
        <p:grpSpPr>
          <a:xfrm>
            <a:off x="0" y="1490510"/>
            <a:ext cx="7276494" cy="457107"/>
            <a:chOff x="0" y="0"/>
            <a:chExt cx="7276492" cy="457106"/>
          </a:xfrm>
        </p:grpSpPr>
        <p:sp>
          <p:nvSpPr>
            <p:cNvPr id="166" name="Prostokąt"/>
            <p:cNvSpPr/>
            <p:nvPr/>
          </p:nvSpPr>
          <p:spPr>
            <a:xfrm>
              <a:off x="-1" y="-1"/>
              <a:ext cx="7276494" cy="457108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685800">
                <a:lnSpc>
                  <a:spcPct val="90000"/>
                </a:lnSpc>
                <a:defRPr sz="1600">
                  <a:latin typeface="SanukPro-Medium"/>
                  <a:ea typeface="SanukPro-Medium"/>
                  <a:cs typeface="SanukPro-Medium"/>
                  <a:sym typeface="SanukPro-Medium"/>
                </a:defRPr>
              </a:pPr>
              <a:endParaRPr/>
            </a:p>
          </p:txBody>
        </p:sp>
        <p:sp>
          <p:nvSpPr>
            <p:cNvPr id="167" name="Kliknij, aby edytować styl"/>
            <p:cNvSpPr txBox="1"/>
            <p:nvPr/>
          </p:nvSpPr>
          <p:spPr>
            <a:xfrm>
              <a:off x="782279" y="62279"/>
              <a:ext cx="6448494" cy="350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defTabSz="685800">
                <a:lnSpc>
                  <a:spcPct val="90000"/>
                </a:lnSpc>
                <a:defRPr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Kliknij, aby edytować styl</a:t>
              </a:r>
            </a:p>
          </p:txBody>
        </p:sp>
      </p:grpSp>
      <p:sp>
        <p:nvSpPr>
          <p:cNvPr id="169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pic>
        <p:nvPicPr>
          <p:cNvPr id="170" name="Obraz 2" descr="Obraz 2"/>
          <p:cNvPicPr>
            <a:picLocks noChangeAspect="1"/>
          </p:cNvPicPr>
          <p:nvPr/>
        </p:nvPicPr>
        <p:blipFill>
          <a:blip r:embed="rId2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Obraz 12" descr="Obraz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Łącznik prosty 15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reść - poziom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96647" y="2618438"/>
            <a:ext cx="5982553" cy="1655762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accent1"/>
              </a:buClr>
              <a:buFontTx/>
              <a:buChar char="▪"/>
              <a:defRPr sz="1600" b="1">
                <a:latin typeface="Arial"/>
                <a:ea typeface="Arial"/>
                <a:cs typeface="Arial"/>
                <a:sym typeface="Arial"/>
              </a:defRPr>
            </a:lvl1pPr>
            <a:lvl2pPr marL="0" indent="3429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0" indent="6858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3pPr>
            <a:lvl4pPr marL="0" indent="10287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4pPr>
            <a:lvl5pPr marL="0" indent="1371600">
              <a:buClr>
                <a:schemeClr val="accent1"/>
              </a:buClr>
              <a:buSzTx/>
              <a:buFont typeface="Wingdings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Kliknij, aby edytować styl wzorca tekstu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81" name="Tytuł 1"/>
          <p:cNvSpPr txBox="1"/>
          <p:nvPr/>
        </p:nvSpPr>
        <p:spPr>
          <a:xfrm>
            <a:off x="8949309" y="5337142"/>
            <a:ext cx="1556528" cy="281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685800">
              <a:lnSpc>
                <a:spcPct val="90000"/>
              </a:lnSpc>
              <a:defRPr sz="1200"/>
            </a:lvl1pPr>
          </a:lstStyle>
          <a:p>
            <a:r>
              <a:t>foto</a:t>
            </a:r>
          </a:p>
        </p:txBody>
      </p:sp>
      <p:sp>
        <p:nvSpPr>
          <p:cNvPr id="182" name="Tytuł 1"/>
          <p:cNvSpPr/>
          <p:nvPr/>
        </p:nvSpPr>
        <p:spPr>
          <a:xfrm>
            <a:off x="0" y="1439142"/>
            <a:ext cx="7053945" cy="45710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 defTabSz="685800">
              <a:lnSpc>
                <a:spcPct val="90000"/>
              </a:lnSpc>
              <a:defRPr>
                <a:solidFill>
                  <a:srgbClr val="FFFFFF"/>
                </a:solidFill>
                <a:latin typeface="SanukPro-Medium"/>
                <a:ea typeface="SanukPro-Medium"/>
                <a:cs typeface="SanukPro-Medium"/>
                <a:sym typeface="SanukPro-Medium"/>
              </a:defRPr>
            </a:pPr>
            <a:endParaRPr/>
          </a:p>
        </p:txBody>
      </p:sp>
      <p:sp>
        <p:nvSpPr>
          <p:cNvPr id="183" name="Symbol zastępczy tekstu 5"/>
          <p:cNvSpPr>
            <a:spLocks noGrp="1"/>
          </p:cNvSpPr>
          <p:nvPr>
            <p:ph type="body" sz="quarter" idx="21"/>
          </p:nvPr>
        </p:nvSpPr>
        <p:spPr>
          <a:xfrm>
            <a:off x="697360" y="1476743"/>
            <a:ext cx="5585885" cy="40671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84" name="Tekst tytułowy"/>
          <p:cNvSpPr txBox="1">
            <a:spLocks noGrp="1"/>
          </p:cNvSpPr>
          <p:nvPr>
            <p:ph type="title"/>
          </p:nvPr>
        </p:nvSpPr>
        <p:spPr>
          <a:xfrm>
            <a:off x="6039804" y="536729"/>
            <a:ext cx="6152198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Tekst tytułowy</a:t>
            </a:r>
          </a:p>
        </p:txBody>
      </p:sp>
      <p:pic>
        <p:nvPicPr>
          <p:cNvPr id="185" name="Obraz 2" descr="Obraz 2"/>
          <p:cNvPicPr>
            <a:picLocks noChangeAspect="1"/>
          </p:cNvPicPr>
          <p:nvPr/>
        </p:nvPicPr>
        <p:blipFill>
          <a:blip r:embed="rId2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Obraz 14" descr="Obraz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Łącznik prosty 17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8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odsumowanie"/>
          <p:cNvSpPr txBox="1">
            <a:spLocks noGrp="1"/>
          </p:cNvSpPr>
          <p:nvPr>
            <p:ph type="title" hasCustomPrompt="1"/>
          </p:nvPr>
        </p:nvSpPr>
        <p:spPr>
          <a:xfrm>
            <a:off x="6016745" y="536729"/>
            <a:ext cx="6088856" cy="281638"/>
          </a:xfrm>
          <a:prstGeom prst="rect">
            <a:avLst/>
          </a:prstGeom>
        </p:spPr>
        <p:txBody>
          <a:bodyPr anchor="t"/>
          <a:lstStyle>
            <a:lvl1pPr>
              <a:defRPr sz="1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Podsumowanie</a:t>
            </a:r>
          </a:p>
        </p:txBody>
      </p:sp>
      <p:sp>
        <p:nvSpPr>
          <p:cNvPr id="196" name="Zaokrąglony prostokąt 12"/>
          <p:cNvSpPr/>
          <p:nvPr/>
        </p:nvSpPr>
        <p:spPr>
          <a:xfrm>
            <a:off x="2071016" y="4163012"/>
            <a:ext cx="8285812" cy="97483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7" name="Zaokrąglony prostokąt 15"/>
          <p:cNvSpPr/>
          <p:nvPr/>
        </p:nvSpPr>
        <p:spPr>
          <a:xfrm>
            <a:off x="2057269" y="2281289"/>
            <a:ext cx="8285812" cy="86147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8" name="Zaokrąglony prostokąt 18"/>
          <p:cNvSpPr/>
          <p:nvPr/>
        </p:nvSpPr>
        <p:spPr>
          <a:xfrm>
            <a:off x="2064629" y="3239589"/>
            <a:ext cx="8285812" cy="81438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Zaokrąglony prostokąt 21"/>
          <p:cNvSpPr/>
          <p:nvPr/>
        </p:nvSpPr>
        <p:spPr>
          <a:xfrm>
            <a:off x="2057269" y="1301624"/>
            <a:ext cx="8285812" cy="87542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" name="Zaokrąglony prostokąt 24"/>
          <p:cNvSpPr/>
          <p:nvPr/>
        </p:nvSpPr>
        <p:spPr>
          <a:xfrm>
            <a:off x="2054082" y="5250193"/>
            <a:ext cx="8285813" cy="87542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Treść - poziom 1…"/>
          <p:cNvSpPr txBox="1">
            <a:spLocks noGrp="1"/>
          </p:cNvSpPr>
          <p:nvPr>
            <p:ph type="body" sz="half" idx="1"/>
          </p:nvPr>
        </p:nvSpPr>
        <p:spPr>
          <a:xfrm>
            <a:off x="2448168" y="1579565"/>
            <a:ext cx="6555317" cy="461962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95300" indent="-152400">
              <a:buFontTx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68680" indent="-182880">
              <a:buFontTx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39715" indent="-211015">
              <a:buFontTx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582615" indent="-211015">
              <a:buFontTx/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pic>
        <p:nvPicPr>
          <p:cNvPr id="202" name="Obraz 2" descr="Obraz 2"/>
          <p:cNvPicPr>
            <a:picLocks noChangeAspect="1"/>
          </p:cNvPicPr>
          <p:nvPr/>
        </p:nvPicPr>
        <p:blipFill>
          <a:blip r:embed="rId2"/>
          <a:srcRect l="6366" t="13394" r="9949"/>
          <a:stretch>
            <a:fillRect/>
          </a:stretch>
        </p:blipFill>
        <p:spPr>
          <a:xfrm>
            <a:off x="182399" y="106724"/>
            <a:ext cx="3650767" cy="1421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Obraz 11" descr="Obraz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953" y="474085"/>
            <a:ext cx="1330477" cy="598716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Łącznik prosty 12"/>
          <p:cNvSpPr/>
          <p:nvPr/>
        </p:nvSpPr>
        <p:spPr>
          <a:xfrm>
            <a:off x="5657086" y="581982"/>
            <a:ext cx="1" cy="414248"/>
          </a:xfrm>
          <a:prstGeom prst="line">
            <a:avLst/>
          </a:prstGeom>
          <a:ln w="12700">
            <a:solidFill>
              <a:schemeClr val="accent2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Obraz 2" descr="Obraz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898" y="2332920"/>
            <a:ext cx="4668233" cy="21007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Obraz 1" descr="Obraz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940" y="2494590"/>
            <a:ext cx="3173860" cy="1688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kst tytułowy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 defTabSz="914400">
              <a:defRPr sz="60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229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45720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91440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137160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182880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230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kst tytułowy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>
            <a:lvl1pPr defTabSz="914400"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238" name="Treść - poziom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723900" indent="-2667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1234439" indent="-320039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239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kst tytułowy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1" cy="2852737"/>
          </a:xfrm>
          <a:prstGeom prst="rect">
            <a:avLst/>
          </a:prstGeom>
        </p:spPr>
        <p:txBody>
          <a:bodyPr anchor="b"/>
          <a:lstStyle>
            <a:lvl1pPr defTabSz="914400">
              <a:defRPr sz="60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247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45720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91440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137160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182880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248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kst tytułowy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>
            <a:lvl1pPr defTabSz="914400"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256" name="Treść - poziom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>
            <a:lvl1pPr marL="228600" indent="-228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723900" indent="-2667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1234439" indent="-320039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257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kst tytułowy"/>
          <p:cNvSpPr txBox="1">
            <a:spLocks noGrp="1"/>
          </p:cNvSpPr>
          <p:nvPr>
            <p:ph type="title"/>
          </p:nvPr>
        </p:nvSpPr>
        <p:spPr>
          <a:xfrm>
            <a:off x="840317" y="365125"/>
            <a:ext cx="10515601" cy="1325564"/>
          </a:xfrm>
          <a:prstGeom prst="rect">
            <a:avLst/>
          </a:prstGeom>
        </p:spPr>
        <p:txBody>
          <a:bodyPr/>
          <a:lstStyle>
            <a:lvl1pPr defTabSz="914400"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265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840317" y="1681163"/>
            <a:ext cx="5158318" cy="823913"/>
          </a:xfrm>
          <a:prstGeom prst="rect">
            <a:avLst/>
          </a:prstGeom>
        </p:spPr>
        <p:txBody>
          <a:bodyPr anchor="b"/>
          <a:lstStyle>
            <a:lvl1pPr marL="0" indent="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45720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91440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137160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182880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266" name="Symbol zastępczy tekstu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717" cy="823913"/>
          </a:xfrm>
          <a:prstGeom prst="rect">
            <a:avLst/>
          </a:prstGeom>
        </p:spPr>
        <p:txBody>
          <a:bodyPr anchor="b"/>
          <a:lstStyle/>
          <a:p>
            <a:pPr marL="0" indent="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67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kst tytułowy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>
            <a:lvl1pPr defTabSz="914400"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275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kst tytułowy"/>
          <p:cNvSpPr txBox="1">
            <a:spLocks noGrp="1"/>
          </p:cNvSpPr>
          <p:nvPr>
            <p:ph type="title"/>
          </p:nvPr>
        </p:nvSpPr>
        <p:spPr>
          <a:xfrm>
            <a:off x="840317" y="457200"/>
            <a:ext cx="3932768" cy="1600200"/>
          </a:xfrm>
          <a:prstGeom prst="rect">
            <a:avLst/>
          </a:prstGeom>
        </p:spPr>
        <p:txBody>
          <a:bodyPr anchor="b"/>
          <a:lstStyle>
            <a:lvl1pPr defTabSz="914400">
              <a:defRPr sz="32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290" name="Treść - poziom 1…"/>
          <p:cNvSpPr txBox="1">
            <a:spLocks noGrp="1"/>
          </p:cNvSpPr>
          <p:nvPr>
            <p:ph type="body" sz="half" idx="1"/>
          </p:nvPr>
        </p:nvSpPr>
        <p:spPr>
          <a:xfrm>
            <a:off x="5183716" y="987425"/>
            <a:ext cx="6172201" cy="4873626"/>
          </a:xfrm>
          <a:prstGeom prst="rect">
            <a:avLst/>
          </a:prstGeom>
        </p:spPr>
        <p:txBody>
          <a:bodyPr/>
          <a:lstStyle>
            <a:lvl1pPr marL="228600" indent="-228600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718457" indent="-261257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1219200" indent="-304800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1737360" indent="-365760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2194560" indent="-365760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291" name="Symbol zastępczy tekstu 3"/>
          <p:cNvSpPr>
            <a:spLocks noGrp="1"/>
          </p:cNvSpPr>
          <p:nvPr>
            <p:ph type="body" sz="quarter" idx="21"/>
          </p:nvPr>
        </p:nvSpPr>
        <p:spPr>
          <a:xfrm>
            <a:off x="840317" y="2057400"/>
            <a:ext cx="3932768" cy="3811588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92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kst tytułowy"/>
          <p:cNvSpPr txBox="1">
            <a:spLocks noGrp="1"/>
          </p:cNvSpPr>
          <p:nvPr>
            <p:ph type="title"/>
          </p:nvPr>
        </p:nvSpPr>
        <p:spPr>
          <a:xfrm>
            <a:off x="840317" y="457200"/>
            <a:ext cx="3932768" cy="1600200"/>
          </a:xfrm>
          <a:prstGeom prst="rect">
            <a:avLst/>
          </a:prstGeom>
        </p:spPr>
        <p:txBody>
          <a:bodyPr anchor="b"/>
          <a:lstStyle>
            <a:lvl1pPr defTabSz="914400">
              <a:defRPr sz="32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300" name="Symbol zastępczy obrazu 2"/>
          <p:cNvSpPr>
            <a:spLocks noGrp="1"/>
          </p:cNvSpPr>
          <p:nvPr>
            <p:ph type="pic" sz="half" idx="21"/>
          </p:nvPr>
        </p:nvSpPr>
        <p:spPr>
          <a:xfrm>
            <a:off x="5183716" y="987425"/>
            <a:ext cx="617220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01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840317" y="2057400"/>
            <a:ext cx="3932768" cy="3811588"/>
          </a:xfrm>
          <a:prstGeom prst="rect">
            <a:avLst/>
          </a:prstGeom>
        </p:spPr>
        <p:txBody>
          <a:bodyPr/>
          <a:lstStyle>
            <a:lvl1pPr marL="0" indent="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45720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91440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137160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182880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302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kst tytułowy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 defTabSz="914400">
              <a:defRPr sz="60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310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45720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91440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137160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1828800" algn="ctr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311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kst tytułowy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>
            <a:lvl1pPr defTabSz="914400"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319" name="Treść - poziom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723900" indent="-2667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1234439" indent="-320039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320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kst tytułowy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1" cy="2852737"/>
          </a:xfrm>
          <a:prstGeom prst="rect">
            <a:avLst/>
          </a:prstGeom>
        </p:spPr>
        <p:txBody>
          <a:bodyPr anchor="b"/>
          <a:lstStyle>
            <a:lvl1pPr defTabSz="914400">
              <a:defRPr sz="60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328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45720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91440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137160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1828800" defTabSz="914400">
              <a:spcBef>
                <a:spcPts val="1000"/>
              </a:spcBef>
              <a:buSzTx/>
              <a:buFontTx/>
              <a:buNone/>
              <a:defRPr sz="24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329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kst tytułowy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>
            <a:lvl1pPr defTabSz="914400"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337" name="Treść - poziom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>
            <a:lvl1pPr marL="228600" indent="-228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723900" indent="-2667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1234439" indent="-320039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1727200" indent="-355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2184400" indent="-355600" defTabSz="914400">
              <a:spcBef>
                <a:spcPts val="1000"/>
              </a:spcBef>
              <a:defRPr sz="28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338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kst tytułowy"/>
          <p:cNvSpPr txBox="1">
            <a:spLocks noGrp="1"/>
          </p:cNvSpPr>
          <p:nvPr>
            <p:ph type="title"/>
          </p:nvPr>
        </p:nvSpPr>
        <p:spPr>
          <a:xfrm>
            <a:off x="840317" y="365125"/>
            <a:ext cx="10515601" cy="1325564"/>
          </a:xfrm>
          <a:prstGeom prst="rect">
            <a:avLst/>
          </a:prstGeom>
        </p:spPr>
        <p:txBody>
          <a:bodyPr/>
          <a:lstStyle>
            <a:lvl1pPr defTabSz="914400"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346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840317" y="1681163"/>
            <a:ext cx="5158318" cy="823913"/>
          </a:xfrm>
          <a:prstGeom prst="rect">
            <a:avLst/>
          </a:prstGeom>
        </p:spPr>
        <p:txBody>
          <a:bodyPr anchor="b"/>
          <a:lstStyle>
            <a:lvl1pPr marL="0" indent="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45720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91440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137160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182880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347" name="Symbol zastępczy tekstu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717" cy="823913"/>
          </a:xfrm>
          <a:prstGeom prst="rect">
            <a:avLst/>
          </a:prstGeom>
        </p:spPr>
        <p:txBody>
          <a:bodyPr anchor="b"/>
          <a:lstStyle/>
          <a:p>
            <a:pPr marL="0" indent="0" defTabSz="914400">
              <a:spcBef>
                <a:spcPts val="1000"/>
              </a:spcBef>
              <a:buSzTx/>
              <a:buFontTx/>
              <a:buNone/>
              <a:defRPr sz="2400" b="1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48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kst tytułowy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/>
          <a:lstStyle>
            <a:lvl1pPr defTabSz="914400"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356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kst tytułowy"/>
          <p:cNvSpPr txBox="1">
            <a:spLocks noGrp="1"/>
          </p:cNvSpPr>
          <p:nvPr>
            <p:ph type="title"/>
          </p:nvPr>
        </p:nvSpPr>
        <p:spPr>
          <a:xfrm>
            <a:off x="840317" y="457200"/>
            <a:ext cx="3932768" cy="1600200"/>
          </a:xfrm>
          <a:prstGeom prst="rect">
            <a:avLst/>
          </a:prstGeom>
        </p:spPr>
        <p:txBody>
          <a:bodyPr anchor="b"/>
          <a:lstStyle>
            <a:lvl1pPr defTabSz="914400">
              <a:defRPr sz="32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371" name="Treść - poziom 1…"/>
          <p:cNvSpPr txBox="1">
            <a:spLocks noGrp="1"/>
          </p:cNvSpPr>
          <p:nvPr>
            <p:ph type="body" sz="half" idx="1"/>
          </p:nvPr>
        </p:nvSpPr>
        <p:spPr>
          <a:xfrm>
            <a:off x="5183716" y="987425"/>
            <a:ext cx="6172201" cy="4873626"/>
          </a:xfrm>
          <a:prstGeom prst="rect">
            <a:avLst/>
          </a:prstGeom>
        </p:spPr>
        <p:txBody>
          <a:bodyPr/>
          <a:lstStyle>
            <a:lvl1pPr marL="228600" indent="-228600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718457" indent="-261257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1219200" indent="-304800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1737360" indent="-365760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2194560" indent="-365760" defTabSz="914400">
              <a:spcBef>
                <a:spcPts val="1000"/>
              </a:spcBef>
              <a:defRPr sz="32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372" name="Symbol zastępczy tekstu 3"/>
          <p:cNvSpPr>
            <a:spLocks noGrp="1"/>
          </p:cNvSpPr>
          <p:nvPr>
            <p:ph type="body" sz="quarter" idx="21"/>
          </p:nvPr>
        </p:nvSpPr>
        <p:spPr>
          <a:xfrm>
            <a:off x="840317" y="2057400"/>
            <a:ext cx="3932768" cy="3811588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373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kst tytułowy"/>
          <p:cNvSpPr txBox="1">
            <a:spLocks noGrp="1"/>
          </p:cNvSpPr>
          <p:nvPr>
            <p:ph type="title"/>
          </p:nvPr>
        </p:nvSpPr>
        <p:spPr>
          <a:xfrm>
            <a:off x="840317" y="457200"/>
            <a:ext cx="3932768" cy="1600200"/>
          </a:xfrm>
          <a:prstGeom prst="rect">
            <a:avLst/>
          </a:prstGeom>
        </p:spPr>
        <p:txBody>
          <a:bodyPr anchor="b"/>
          <a:lstStyle>
            <a:lvl1pPr defTabSz="914400">
              <a:defRPr sz="32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Tekst tytułowy</a:t>
            </a:r>
          </a:p>
        </p:txBody>
      </p:sp>
      <p:sp>
        <p:nvSpPr>
          <p:cNvPr id="381" name="Symbol zastępczy obrazu 2"/>
          <p:cNvSpPr>
            <a:spLocks noGrp="1"/>
          </p:cNvSpPr>
          <p:nvPr>
            <p:ph type="pic" sz="half" idx="21"/>
          </p:nvPr>
        </p:nvSpPr>
        <p:spPr>
          <a:xfrm>
            <a:off x="5183716" y="987425"/>
            <a:ext cx="617220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82" name="Treść - poziom 1…"/>
          <p:cNvSpPr txBox="1">
            <a:spLocks noGrp="1"/>
          </p:cNvSpPr>
          <p:nvPr>
            <p:ph type="body" sz="quarter" idx="1"/>
          </p:nvPr>
        </p:nvSpPr>
        <p:spPr>
          <a:xfrm>
            <a:off x="840317" y="2057400"/>
            <a:ext cx="3932768" cy="3811588"/>
          </a:xfrm>
          <a:prstGeom prst="rect">
            <a:avLst/>
          </a:prstGeom>
        </p:spPr>
        <p:txBody>
          <a:bodyPr/>
          <a:lstStyle>
            <a:lvl1pPr marL="0" indent="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1pPr>
            <a:lvl2pPr marL="0" indent="45720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2pPr>
            <a:lvl3pPr marL="0" indent="91440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3pPr>
            <a:lvl4pPr marL="0" indent="137160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4pPr>
            <a:lvl5pPr marL="0" indent="1828800" defTabSz="914400">
              <a:spcBef>
                <a:spcPts val="1000"/>
              </a:spcBef>
              <a:buSzTx/>
              <a:buFontTx/>
              <a:buNone/>
              <a:defRPr sz="1600">
                <a:solidFill>
                  <a:srgbClr val="000000"/>
                </a:solidFill>
                <a:latin typeface="+mj-lt"/>
                <a:ea typeface="+mj-ea"/>
                <a:cs typeface="+mj-cs"/>
                <a:sym typeface="Calibri"/>
              </a:defRPr>
            </a:lvl5pPr>
          </a:lstStyle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383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Tekst tytułowy</a:t>
            </a:r>
          </a:p>
        </p:txBody>
      </p:sp>
      <p:sp>
        <p:nvSpPr>
          <p:cNvPr id="3" name="Treść - poziom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 txBox="1">
            <a:spLocks noGrp="1"/>
          </p:cNvSpPr>
          <p:nvPr>
            <p:ph type="sldNum" sz="quarter" idx="2"/>
          </p:nvPr>
        </p:nvSpPr>
        <p:spPr>
          <a:xfrm>
            <a:off x="11122523" y="6423344"/>
            <a:ext cx="231278" cy="231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E9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chemeClr val="accent2"/>
          </a:solidFill>
          <a:uFillTx/>
          <a:latin typeface="SanukPro-Medium"/>
          <a:ea typeface="SanukPro-Medium"/>
          <a:cs typeface="SanukPro-Medium"/>
          <a:sym typeface="SanukPro-Medium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chemeClr val="accent2"/>
          </a:solidFill>
          <a:uFillTx/>
          <a:latin typeface="SanukPro-Medium"/>
          <a:ea typeface="SanukPro-Medium"/>
          <a:cs typeface="SanukPro-Medium"/>
          <a:sym typeface="SanukPro-Medium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chemeClr val="accent2"/>
          </a:solidFill>
          <a:uFillTx/>
          <a:latin typeface="SanukPro-Medium"/>
          <a:ea typeface="SanukPro-Medium"/>
          <a:cs typeface="SanukPro-Medium"/>
          <a:sym typeface="SanukPro-Medium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chemeClr val="accent2"/>
          </a:solidFill>
          <a:uFillTx/>
          <a:latin typeface="SanukPro-Medium"/>
          <a:ea typeface="SanukPro-Medium"/>
          <a:cs typeface="SanukPro-Medium"/>
          <a:sym typeface="SanukPro-Medium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chemeClr val="accent2"/>
          </a:solidFill>
          <a:uFillTx/>
          <a:latin typeface="SanukPro-Medium"/>
          <a:ea typeface="SanukPro-Medium"/>
          <a:cs typeface="SanukPro-Medium"/>
          <a:sym typeface="SanukPro-Medium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chemeClr val="accent2"/>
          </a:solidFill>
          <a:uFillTx/>
          <a:latin typeface="SanukPro-Medium"/>
          <a:ea typeface="SanukPro-Medium"/>
          <a:cs typeface="SanukPro-Medium"/>
          <a:sym typeface="SanukPro-Medium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chemeClr val="accent2"/>
          </a:solidFill>
          <a:uFillTx/>
          <a:latin typeface="SanukPro-Medium"/>
          <a:ea typeface="SanukPro-Medium"/>
          <a:cs typeface="SanukPro-Medium"/>
          <a:sym typeface="SanukPro-Medium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chemeClr val="accent2"/>
          </a:solidFill>
          <a:uFillTx/>
          <a:latin typeface="SanukPro-Medium"/>
          <a:ea typeface="SanukPro-Medium"/>
          <a:cs typeface="SanukPro-Medium"/>
          <a:sym typeface="SanukPro-Medium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chemeClr val="accent2"/>
          </a:solidFill>
          <a:uFillTx/>
          <a:latin typeface="SanukPro-Medium"/>
          <a:ea typeface="SanukPro-Medium"/>
          <a:cs typeface="SanukPro-Medium"/>
          <a:sym typeface="SanukPro-Medium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chemeClr val="accent2"/>
          </a:solidFill>
          <a:uFillTx/>
          <a:latin typeface="SanukPro-Light"/>
          <a:ea typeface="SanukPro-Light"/>
          <a:cs typeface="SanukPro-Light"/>
          <a:sym typeface="SanukPro-Light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chemeClr val="accent2"/>
          </a:solidFill>
          <a:uFillTx/>
          <a:latin typeface="SanukPro-Light"/>
          <a:ea typeface="SanukPro-Light"/>
          <a:cs typeface="SanukPro-Light"/>
          <a:sym typeface="SanukPro-Light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chemeClr val="accent2"/>
          </a:solidFill>
          <a:uFillTx/>
          <a:latin typeface="SanukPro-Light"/>
          <a:ea typeface="SanukPro-Light"/>
          <a:cs typeface="SanukPro-Light"/>
          <a:sym typeface="SanukPro-Light"/>
        </a:defRPr>
      </a:lvl3pPr>
      <a:lvl4pPr marL="13056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chemeClr val="accent2"/>
          </a:solidFill>
          <a:uFillTx/>
          <a:latin typeface="SanukPro-Light"/>
          <a:ea typeface="SanukPro-Light"/>
          <a:cs typeface="SanukPro-Light"/>
          <a:sym typeface="SanukPro-Light"/>
        </a:defRPr>
      </a:lvl4pPr>
      <a:lvl5pPr marL="16485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chemeClr val="accent2"/>
          </a:solidFill>
          <a:uFillTx/>
          <a:latin typeface="SanukPro-Light"/>
          <a:ea typeface="SanukPro-Light"/>
          <a:cs typeface="SanukPro-Light"/>
          <a:sym typeface="SanukPro-Light"/>
        </a:defRPr>
      </a:lvl5pPr>
      <a:lvl6pPr marL="19914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chemeClr val="accent2"/>
          </a:solidFill>
          <a:uFillTx/>
          <a:latin typeface="SanukPro-Light"/>
          <a:ea typeface="SanukPro-Light"/>
          <a:cs typeface="SanukPro-Light"/>
          <a:sym typeface="SanukPro-Light"/>
        </a:defRPr>
      </a:lvl6pPr>
      <a:lvl7pPr marL="23343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chemeClr val="accent2"/>
          </a:solidFill>
          <a:uFillTx/>
          <a:latin typeface="SanukPro-Light"/>
          <a:ea typeface="SanukPro-Light"/>
          <a:cs typeface="SanukPro-Light"/>
          <a:sym typeface="SanukPro-Light"/>
        </a:defRPr>
      </a:lvl7pPr>
      <a:lvl8pPr marL="26772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chemeClr val="accent2"/>
          </a:solidFill>
          <a:uFillTx/>
          <a:latin typeface="SanukPro-Light"/>
          <a:ea typeface="SanukPro-Light"/>
          <a:cs typeface="SanukPro-Light"/>
          <a:sym typeface="SanukPro-Light"/>
        </a:defRPr>
      </a:lvl8pPr>
      <a:lvl9pPr marL="30201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chemeClr val="accent2"/>
          </a:solidFill>
          <a:uFillTx/>
          <a:latin typeface="SanukPro-Light"/>
          <a:ea typeface="SanukPro-Light"/>
          <a:cs typeface="SanukPro-Light"/>
          <a:sym typeface="SanukPro-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anukPro-Ligh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anukPro-Ligh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anukPro-Ligh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anukPro-Ligh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anukPro-Ligh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anukPro-Ligh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anukPro-Ligh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anukPro-Ligh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anukPro-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mailto:magdalena.szuflita@pg.edu.pl" TargetMode="Externa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rostokąt 2"/>
          <p:cNvSpPr/>
          <p:nvPr/>
        </p:nvSpPr>
        <p:spPr>
          <a:xfrm>
            <a:off x="5671390" y="5998605"/>
            <a:ext cx="5310937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3" name="pole tekstowe 10"/>
          <p:cNvSpPr txBox="1"/>
          <p:nvPr/>
        </p:nvSpPr>
        <p:spPr>
          <a:xfrm>
            <a:off x="5241600" y="2921474"/>
            <a:ext cx="6138211" cy="1806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000" b="1">
                <a:solidFill>
                  <a:srgbClr val="01376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Open Science Competence Center at Gdansk Tech – a pathway to strengthening Open Science in Poland</a:t>
            </a:r>
          </a:p>
        </p:txBody>
      </p:sp>
      <p:sp>
        <p:nvSpPr>
          <p:cNvPr id="394" name="Prostokąt 11"/>
          <p:cNvSpPr txBox="1"/>
          <p:nvPr/>
        </p:nvSpPr>
        <p:spPr>
          <a:xfrm>
            <a:off x="8862549" y="470615"/>
            <a:ext cx="2708820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sp>
        <p:nvSpPr>
          <p:cNvPr id="395" name="pole tekstowe 16"/>
          <p:cNvSpPr txBox="1"/>
          <p:nvPr/>
        </p:nvSpPr>
        <p:spPr>
          <a:xfrm>
            <a:off x="5824992" y="5979554"/>
            <a:ext cx="4997313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https://pg.edu.pl/en/gdansk-tech-library</a:t>
            </a:r>
          </a:p>
        </p:txBody>
      </p:sp>
      <p:sp>
        <p:nvSpPr>
          <p:cNvPr id="396" name="Prostokąt 17"/>
          <p:cNvSpPr txBox="1"/>
          <p:nvPr/>
        </p:nvSpPr>
        <p:spPr>
          <a:xfrm>
            <a:off x="568233" y="5330688"/>
            <a:ext cx="6004561" cy="77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indent="20320">
              <a:defRPr sz="1600" b="1" spc="-10">
                <a:solidFill>
                  <a:srgbClr val="01376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Magdalena Szuflita-Żurawska</a:t>
            </a:r>
          </a:p>
          <a:p>
            <a:pPr indent="20320">
              <a:defRPr sz="1600" b="1" spc="-10">
                <a:solidFill>
                  <a:srgbClr val="01376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GDAŃSK TECH LIBRARY</a:t>
            </a:r>
          </a:p>
          <a:p>
            <a:pPr indent="20320">
              <a:defRPr sz="1600" spc="-20">
                <a:solidFill>
                  <a:srgbClr val="013766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E-</a:t>
            </a:r>
            <a:r>
              <a:rPr spc="0"/>
              <a:t>mail:</a:t>
            </a:r>
            <a:r>
              <a:rPr spc="-10"/>
              <a:t>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/>
              </a:rPr>
              <a:t>magdalena.szuflita@pg.edu.pl</a:t>
            </a:r>
          </a:p>
        </p:txBody>
      </p:sp>
      <p:pic>
        <p:nvPicPr>
          <p:cNvPr id="397" name="Picture 12" descr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15" y="294730"/>
            <a:ext cx="3544145" cy="1287789"/>
          </a:xfrm>
          <a:prstGeom prst="rect">
            <a:avLst/>
          </a:prstGeom>
          <a:ln w="12700">
            <a:miter lim="400000"/>
          </a:ln>
        </p:spPr>
      </p:pic>
      <p:pic>
        <p:nvPicPr>
          <p:cNvPr id="398" name="Picture 2" descr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15" y="2147589"/>
            <a:ext cx="4426074" cy="2954404"/>
          </a:xfrm>
          <a:prstGeom prst="rect">
            <a:avLst/>
          </a:prstGeom>
          <a:ln w="12700">
            <a:miter lim="400000"/>
          </a:ln>
        </p:spPr>
      </p:pic>
      <p:sp>
        <p:nvSpPr>
          <p:cNvPr id="399" name="Prostokąt 1"/>
          <p:cNvSpPr txBox="1"/>
          <p:nvPr/>
        </p:nvSpPr>
        <p:spPr>
          <a:xfrm>
            <a:off x="634735" y="4704120"/>
            <a:ext cx="4399780" cy="341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 b="1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Gdańsk University of Technology Main Building</a:t>
            </a:r>
          </a:p>
          <a:p>
            <a:pPr>
              <a:defRPr sz="900" b="1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Author: K. Krzempek https://pg.edu.pl/dzial-promocji/marka-pg/galeria-zdjec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Prostokąt 9"/>
          <p:cNvSpPr txBox="1"/>
          <p:nvPr/>
        </p:nvSpPr>
        <p:spPr>
          <a:xfrm>
            <a:off x="8862548" y="470615"/>
            <a:ext cx="2708821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pic>
        <p:nvPicPr>
          <p:cNvPr id="403" name="Zrzut ekranu 2025-05-19 o 12.06.01.png" descr="Zrzut ekranu 2025-05-19 o 12.06.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1" y="1535740"/>
            <a:ext cx="6917771" cy="3068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" name="Zrzut ekranu 2025-05-19 o 12.10.44.png" descr="Zrzut ekranu 2025-05-19 o 12.10.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835" y="2532913"/>
            <a:ext cx="4832060" cy="1792174"/>
          </a:xfrm>
          <a:prstGeom prst="rect">
            <a:avLst/>
          </a:prstGeom>
          <a:ln w="12700">
            <a:miter lim="400000"/>
          </a:ln>
        </p:spPr>
      </p:pic>
      <p:pic>
        <p:nvPicPr>
          <p:cNvPr id="405" name="slajd data stewards loga.png" descr="slajd data stewards loga.png"/>
          <p:cNvPicPr>
            <a:picLocks noChangeAspect="1"/>
          </p:cNvPicPr>
          <p:nvPr/>
        </p:nvPicPr>
        <p:blipFill>
          <a:blip r:embed="rId5"/>
          <a:srcRect b="11114"/>
          <a:stretch>
            <a:fillRect/>
          </a:stretch>
        </p:blipFill>
        <p:spPr>
          <a:xfrm>
            <a:off x="1538685" y="4824724"/>
            <a:ext cx="10252057" cy="21737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rostokąt 2"/>
          <p:cNvSpPr/>
          <p:nvPr/>
        </p:nvSpPr>
        <p:spPr>
          <a:xfrm>
            <a:off x="5671391" y="5998605"/>
            <a:ext cx="5310936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8" name="pole tekstowe 3"/>
          <p:cNvSpPr txBox="1"/>
          <p:nvPr/>
        </p:nvSpPr>
        <p:spPr>
          <a:xfrm>
            <a:off x="5824992" y="5979554"/>
            <a:ext cx="4997313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https://pg.edu.pl/en/gdansk-tech-library</a:t>
            </a:r>
          </a:p>
        </p:txBody>
      </p:sp>
      <p:pic>
        <p:nvPicPr>
          <p:cNvPr id="409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10" name="Prostokąt 9"/>
          <p:cNvSpPr txBox="1"/>
          <p:nvPr/>
        </p:nvSpPr>
        <p:spPr>
          <a:xfrm>
            <a:off x="8862548" y="470615"/>
            <a:ext cx="2708821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sp>
        <p:nvSpPr>
          <p:cNvPr id="411" name="Open Science Policy in Poland – Key Points…"/>
          <p:cNvSpPr txBox="1"/>
          <p:nvPr/>
        </p:nvSpPr>
        <p:spPr>
          <a:xfrm>
            <a:off x="686340" y="1653680"/>
            <a:ext cx="10819319" cy="4790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sz="1400" b="1">
                <a:latin typeface="Arial"/>
                <a:ea typeface="Arial"/>
                <a:cs typeface="Arial"/>
                <a:sym typeface="Arial"/>
              </a:defRPr>
            </a:pPr>
            <a:r>
              <a:t>Open Science Policy in Poland – Key Points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National Open Access Policy (2015)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Poland introduced its first national open access policy in </a:t>
            </a:r>
            <a:r>
              <a:rPr b="1"/>
              <a:t>2015.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It encourages open access to scientific publications and research data funded from public resources.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2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Ministry of Science and Higher Education Initiatives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The Ministry supports repositories, open journals, and platforms for open data (e.g., POL-on, Otwarta Nauka).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Promotes integration with European initiatives like OpenAIRE and Horizon Europe.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2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The National Science Centre (NCN) Requirements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NCN mandates that results of publicly funded research (publications and data) be made openly available.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Researchers are required to deposit their publications in open repositories.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4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Open Research Data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The Polish scientific community is encouraged to share research data in line with FAIR principles (Findable, Accessible, Interoperable, Reusable).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Implementation of Data Management Plans (DMPs) is becoming standard for funded projects.</a:t>
            </a:r>
          </a:p>
          <a:p>
            <a:pPr defTabSz="457200"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rostokąt 2"/>
          <p:cNvSpPr/>
          <p:nvPr/>
        </p:nvSpPr>
        <p:spPr>
          <a:xfrm>
            <a:off x="5671391" y="5998605"/>
            <a:ext cx="5310936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14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15" name="Prostokąt 9"/>
          <p:cNvSpPr txBox="1"/>
          <p:nvPr/>
        </p:nvSpPr>
        <p:spPr>
          <a:xfrm>
            <a:off x="8862548" y="470615"/>
            <a:ext cx="2708821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sp>
        <p:nvSpPr>
          <p:cNvPr id="416" name="Open Science in Poland – EOSC-PL Highlights…"/>
          <p:cNvSpPr txBox="1"/>
          <p:nvPr/>
        </p:nvSpPr>
        <p:spPr>
          <a:xfrm>
            <a:off x="538692" y="1544610"/>
            <a:ext cx="11114616" cy="4455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1400"/>
              </a:spcBef>
              <a:defRPr sz="1400" b="1">
                <a:latin typeface="Arial"/>
                <a:ea typeface="Arial"/>
                <a:cs typeface="Arial"/>
                <a:sym typeface="Arial"/>
              </a:defRPr>
            </a:pPr>
            <a:r>
              <a:t>Open Science in Poland – EOSC-PL Highlights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Poland’s Commitment to Open Science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National policies encourage open access to publicly funded research results.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Key institutions like the National Science Centre require open publication and data sharing in line with FAIR principles.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2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EOSC-PL as Poland’s National Node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Since March 2025, EOSC-PL has operated as Poland’s official node in the European Open Science Cloud (EOSC) Federation.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It is co-developing EOSC’s rules and mechanisms with 12 other European nodes.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2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Institutional Partnership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 i="1">
                <a:latin typeface="Arial"/>
                <a:ea typeface="Arial"/>
                <a:cs typeface="Arial"/>
                <a:sym typeface="Arial"/>
              </a:defRPr>
            </a:pPr>
            <a:r>
              <a:rPr i="0"/>
              <a:t>EOSC-PL is developed by four key partners:</a:t>
            </a:r>
            <a:br>
              <a:rPr i="0"/>
            </a:br>
            <a:r>
              <a:t>National Science Centre, Cyfronet AGH, Gdańsk University of Technology, and the University of Warsaw.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4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Federated Access and Interoperability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EOSC-PL integrates Polish resources—data repositories, computing services, and analytical tools—into the EOSC Federation.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It enables secure and seamless access via single sign-on and supports cross-border research collaboration.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rostokąt 2"/>
          <p:cNvSpPr/>
          <p:nvPr/>
        </p:nvSpPr>
        <p:spPr>
          <a:xfrm>
            <a:off x="5671391" y="5998605"/>
            <a:ext cx="5310936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9" name="pole tekstowe 3"/>
          <p:cNvSpPr txBox="1"/>
          <p:nvPr/>
        </p:nvSpPr>
        <p:spPr>
          <a:xfrm>
            <a:off x="5824992" y="5979554"/>
            <a:ext cx="4997313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https://pg.edu.pl/en/gdansk-tech-library</a:t>
            </a:r>
          </a:p>
        </p:txBody>
      </p:sp>
      <p:pic>
        <p:nvPicPr>
          <p:cNvPr id="420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Prostokąt 9"/>
          <p:cNvSpPr txBox="1"/>
          <p:nvPr/>
        </p:nvSpPr>
        <p:spPr>
          <a:xfrm>
            <a:off x="8862548" y="470615"/>
            <a:ext cx="2708821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sp>
        <p:nvSpPr>
          <p:cNvPr id="422" name="Podtytuł 4"/>
          <p:cNvSpPr txBox="1"/>
          <p:nvPr/>
        </p:nvSpPr>
        <p:spPr>
          <a:xfrm>
            <a:off x="680412" y="1712426"/>
            <a:ext cx="8202947" cy="433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 defTabSz="370331">
              <a:spcBef>
                <a:spcPts val="900"/>
              </a:spcBef>
              <a:defRPr sz="1300" b="1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"Bridge of Data" Project</a:t>
            </a:r>
            <a:br/>
            <a:r>
              <a:rPr b="0"/>
              <a:t>(</a:t>
            </a:r>
            <a:r>
              <a:rPr b="0" i="1"/>
              <a:t>Bridge of Data – Multidisciplinary Open System Transferring Knowledge. Stage II Open Research Data</a:t>
            </a:r>
            <a:r>
              <a:rPr b="0"/>
              <a:t>)</a:t>
            </a:r>
          </a:p>
          <a:p>
            <a:pPr marL="370331" indent="-257175" defTabSz="370331">
              <a:spcBef>
                <a:spcPts val="900"/>
              </a:spcBef>
              <a:buSzPct val="100000"/>
              <a:buFont typeface="Times Roman"/>
              <a:buChar char="•"/>
              <a:defRPr sz="13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project began in </a:t>
            </a:r>
            <a:r>
              <a:rPr b="1"/>
              <a:t>2018 </a:t>
            </a:r>
            <a:r>
              <a:t>and focuses on the implementation of an Open Research Data (ORD) repository.</a:t>
            </a:r>
          </a:p>
          <a:p>
            <a:pPr marL="370331" indent="-257175" defTabSz="370331">
              <a:spcBef>
                <a:spcPts val="900"/>
              </a:spcBef>
              <a:buSzPct val="100000"/>
              <a:buFont typeface="Times Roman"/>
              <a:buChar char="•"/>
              <a:defRPr sz="13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key objective was the creation of the </a:t>
            </a:r>
            <a:r>
              <a:rPr b="1"/>
              <a:t>Open Science Competence Center </a:t>
            </a:r>
            <a:r>
              <a:t>(OSCC) at the Gdańsk University of Technology Library.</a:t>
            </a:r>
          </a:p>
          <a:p>
            <a:pPr marL="740662" lvl="1" indent="-257175" defTabSz="370331">
              <a:spcBef>
                <a:spcPts val="900"/>
              </a:spcBef>
              <a:buSzPct val="100000"/>
              <a:buFont typeface="Times Roman"/>
              <a:buChar char="◦"/>
              <a:defRPr sz="1300" b="1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OSCC was established shortly after the project's launch, in autumn 2018.</a:t>
            </a:r>
          </a:p>
          <a:p>
            <a:pPr marL="370331" indent="-257175" defTabSz="370331">
              <a:spcBef>
                <a:spcPts val="900"/>
              </a:spcBef>
              <a:buSzPct val="100000"/>
              <a:buFont typeface="Times Roman"/>
              <a:buChar char="•"/>
              <a:defRPr sz="13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idea for the OSCC stemmed from:</a:t>
            </a:r>
          </a:p>
          <a:p>
            <a:pPr marL="740662" lvl="1" indent="-257175" defTabSz="370331">
              <a:spcBef>
                <a:spcPts val="900"/>
              </a:spcBef>
              <a:buSzPct val="100000"/>
              <a:buFont typeface="Times Roman"/>
              <a:buChar char="◦"/>
              <a:defRPr sz="13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global trend of data stewardship.</a:t>
            </a:r>
          </a:p>
          <a:p>
            <a:pPr marL="740662" lvl="1" indent="-257175" defTabSz="370331">
              <a:spcBef>
                <a:spcPts val="900"/>
              </a:spcBef>
              <a:buSzPct val="100000"/>
              <a:buFont typeface="Times Roman"/>
              <a:buChar char="◦"/>
              <a:defRPr sz="13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Lessons learned during the earlier "Bridge of Knowledge" project (regarding Open Access)</a:t>
            </a:r>
          </a:p>
          <a:p>
            <a:pPr marL="370331" indent="-257175" defTabSz="370331">
              <a:spcBef>
                <a:spcPts val="900"/>
              </a:spcBef>
              <a:buSzPct val="100000"/>
              <a:buFont typeface="Times Roman"/>
              <a:buChar char="•"/>
              <a:defRPr sz="13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OSCC is:</a:t>
            </a:r>
          </a:p>
          <a:p>
            <a:pPr marL="740662" lvl="1" indent="-257175" defTabSz="370331">
              <a:spcBef>
                <a:spcPts val="900"/>
              </a:spcBef>
              <a:buSzPct val="100000"/>
              <a:buFont typeface="Times Roman"/>
              <a:buChar char="◦"/>
              <a:defRPr sz="13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first (and currently the only) competence center of its kind in Poland.</a:t>
            </a:r>
          </a:p>
          <a:p>
            <a:pPr marL="740662" lvl="1" indent="-257175" defTabSz="370331">
              <a:spcBef>
                <a:spcPts val="900"/>
              </a:spcBef>
              <a:buSzPct val="100000"/>
              <a:buFont typeface="Times Roman"/>
              <a:buChar char="◦"/>
              <a:defRPr sz="13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Part of the national Polish EOSC (European Open Science Cloud) pilot node.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rostokąt 2"/>
          <p:cNvSpPr/>
          <p:nvPr/>
        </p:nvSpPr>
        <p:spPr>
          <a:xfrm>
            <a:off x="5671390" y="5998605"/>
            <a:ext cx="5310937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25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26" name="Prostokąt 9"/>
          <p:cNvSpPr txBox="1"/>
          <p:nvPr/>
        </p:nvSpPr>
        <p:spPr>
          <a:xfrm>
            <a:off x="8862549" y="470615"/>
            <a:ext cx="2708820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grpSp>
        <p:nvGrpSpPr>
          <p:cNvPr id="429" name="Galeria obrazków"/>
          <p:cNvGrpSpPr/>
          <p:nvPr/>
        </p:nvGrpSpPr>
        <p:grpSpPr>
          <a:xfrm>
            <a:off x="-688996" y="1303382"/>
            <a:ext cx="9653692" cy="5791447"/>
            <a:chOff x="0" y="0"/>
            <a:chExt cx="9653691" cy="5791446"/>
          </a:xfrm>
        </p:grpSpPr>
        <p:pic>
          <p:nvPicPr>
            <p:cNvPr id="427" name="CKON - our team! (1).png" descr="CKON - our team! (1).png"/>
            <p:cNvPicPr>
              <a:picLocks noChangeAspect="1"/>
            </p:cNvPicPr>
            <p:nvPr/>
          </p:nvPicPr>
          <p:blipFill>
            <a:blip r:embed="rId3"/>
            <a:srcRect t="412" b="412"/>
            <a:stretch>
              <a:fillRect/>
            </a:stretch>
          </p:blipFill>
          <p:spPr>
            <a:xfrm>
              <a:off x="1275183" y="0"/>
              <a:ext cx="7103324" cy="52834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8" name="Podpis"/>
            <p:cNvSpPr txBox="1"/>
            <p:nvPr/>
          </p:nvSpPr>
          <p:spPr>
            <a:xfrm>
              <a:off x="-1" y="5359646"/>
              <a:ext cx="9653692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t>Podpis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rostokąt 2"/>
          <p:cNvSpPr/>
          <p:nvPr/>
        </p:nvSpPr>
        <p:spPr>
          <a:xfrm>
            <a:off x="5671391" y="5998605"/>
            <a:ext cx="5310936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2" name="pole tekstowe 3"/>
          <p:cNvSpPr txBox="1"/>
          <p:nvPr/>
        </p:nvSpPr>
        <p:spPr>
          <a:xfrm>
            <a:off x="5824992" y="5979554"/>
            <a:ext cx="4997313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https://pg.edu.pl/en/gdansk-tech-library</a:t>
            </a:r>
          </a:p>
        </p:txBody>
      </p:sp>
      <p:pic>
        <p:nvPicPr>
          <p:cNvPr id="433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34" name="Prostokąt 9"/>
          <p:cNvSpPr txBox="1"/>
          <p:nvPr/>
        </p:nvSpPr>
        <p:spPr>
          <a:xfrm>
            <a:off x="8862548" y="470615"/>
            <a:ext cx="2708821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sp>
        <p:nvSpPr>
          <p:cNvPr id="435" name="Podtytuł 4"/>
          <p:cNvSpPr txBox="1"/>
          <p:nvPr/>
        </p:nvSpPr>
        <p:spPr>
          <a:xfrm>
            <a:off x="813922" y="1635180"/>
            <a:ext cx="9063127" cy="433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 marL="374904" indent="-260350" defTabSz="374904">
              <a:spcBef>
                <a:spcPts val="900"/>
              </a:spcBef>
              <a:buSzPct val="100000"/>
              <a:buFont typeface="Times Roman"/>
              <a:buChar char="•"/>
              <a:defRPr sz="1400" b="1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Center delivers a wide range of training programs, consultancy services, and promotional events supporting the development of Open Science.</a:t>
            </a:r>
          </a:p>
          <a:p>
            <a:pPr marL="374904" indent="-260350" defTabSz="374904">
              <a:spcBef>
                <a:spcPts val="900"/>
              </a:spcBef>
              <a:buSzPct val="100000"/>
              <a:buFont typeface="Times Roman"/>
              <a:buChar char="•"/>
              <a:defRPr sz="14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Currently, a variety of tailored offerings are available to academic staff and doctoral students, including:</a:t>
            </a:r>
          </a:p>
          <a:p>
            <a:pPr marL="749808" lvl="1" indent="-260350" defTabSz="374904">
              <a:spcBef>
                <a:spcPts val="900"/>
              </a:spcBef>
              <a:buSzPct val="100000"/>
              <a:buFont typeface="Times Roman"/>
              <a:buChar char="◦"/>
              <a:defRPr sz="1400" b="1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Customized training sessions (e.g., discipline-specific modules),</a:t>
            </a:r>
          </a:p>
          <a:p>
            <a:pPr marL="749808" lvl="1" indent="-260350" defTabSz="374904">
              <a:spcBef>
                <a:spcPts val="900"/>
              </a:spcBef>
              <a:buSzPct val="100000"/>
              <a:buFont typeface="Times Roman"/>
              <a:buChar char="◦"/>
              <a:defRPr sz="14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</a:t>
            </a:r>
            <a:r>
              <a:rPr b="1"/>
              <a:t>ndividual, face-to-face consultations,</a:t>
            </a:r>
          </a:p>
          <a:p>
            <a:pPr marL="749808" lvl="1" indent="-260350" defTabSz="374904">
              <a:spcBef>
                <a:spcPts val="900"/>
              </a:spcBef>
              <a:buSzPct val="100000"/>
              <a:buFont typeface="Times Roman"/>
              <a:buChar char="◦"/>
              <a:defRPr sz="1400" b="1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Online webinars organized into thematic blocks, covering</a:t>
            </a:r>
            <a:r>
              <a:rPr b="0"/>
              <a:t>:</a:t>
            </a:r>
          </a:p>
          <a:p>
            <a:pPr marL="1124711" lvl="2" indent="-260350" defTabSz="374904">
              <a:spcBef>
                <a:spcPts val="900"/>
              </a:spcBef>
              <a:buSzPct val="100000"/>
              <a:buFont typeface="Times Roman"/>
              <a:buChar char="▪"/>
              <a:defRPr sz="14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Introduction to Open Research Data,</a:t>
            </a:r>
          </a:p>
          <a:p>
            <a:pPr marL="1124711" lvl="2" indent="-260350" defTabSz="374904">
              <a:spcBef>
                <a:spcPts val="900"/>
              </a:spcBef>
              <a:buSzPct val="100000"/>
              <a:buFont typeface="Times Roman"/>
              <a:buChar char="▪"/>
              <a:defRPr sz="14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Preparation of Data Management Plans (for national and EU grant applications),</a:t>
            </a:r>
          </a:p>
          <a:p>
            <a:pPr marL="1124711" lvl="2" indent="-260350" defTabSz="374904">
              <a:spcBef>
                <a:spcPts val="900"/>
              </a:spcBef>
              <a:buSzPct val="100000"/>
              <a:buFont typeface="Times Roman"/>
              <a:buChar char="▪"/>
              <a:defRPr sz="14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Legal aspects of research data (licensing, data protection, and data reuse),</a:t>
            </a:r>
          </a:p>
          <a:p>
            <a:pPr marL="1124711" lvl="2" indent="-260350" defTabSz="374904">
              <a:spcBef>
                <a:spcPts val="900"/>
              </a:spcBef>
              <a:buSzPct val="100000"/>
              <a:buFont typeface="Times Roman"/>
              <a:buChar char="▪"/>
              <a:defRPr sz="14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Practical use of the Bridge of Data Repository (dataset submission and management),</a:t>
            </a:r>
          </a:p>
          <a:p>
            <a:pPr marL="1124711" lvl="2" indent="-260350" defTabSz="374904">
              <a:spcBef>
                <a:spcPts val="900"/>
              </a:spcBef>
              <a:buSzPct val="100000"/>
              <a:buFont typeface="Times Roman"/>
              <a:buChar char="▪"/>
              <a:defRPr sz="14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FAIR principles for metadata and data quality,</a:t>
            </a:r>
          </a:p>
          <a:p>
            <a:pPr marL="1124711" lvl="2" indent="-260350" defTabSz="374904">
              <a:spcBef>
                <a:spcPts val="900"/>
              </a:spcBef>
              <a:buSzPct val="100000"/>
              <a:buFont typeface="Times Roman"/>
              <a:buChar char="▪"/>
              <a:defRPr sz="14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Open Access, Plan S: requirements, challenges, and implications.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rostokąt 2"/>
          <p:cNvSpPr/>
          <p:nvPr/>
        </p:nvSpPr>
        <p:spPr>
          <a:xfrm>
            <a:off x="5671391" y="5998605"/>
            <a:ext cx="5310936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8" name="pole tekstowe 3"/>
          <p:cNvSpPr txBox="1"/>
          <p:nvPr/>
        </p:nvSpPr>
        <p:spPr>
          <a:xfrm>
            <a:off x="5824992" y="5979554"/>
            <a:ext cx="4997313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https://pg.edu.pl/en/gdansk-tech-library</a:t>
            </a:r>
          </a:p>
        </p:txBody>
      </p:sp>
      <p:pic>
        <p:nvPicPr>
          <p:cNvPr id="439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40" name="Prostokąt 9"/>
          <p:cNvSpPr txBox="1"/>
          <p:nvPr/>
        </p:nvSpPr>
        <p:spPr>
          <a:xfrm>
            <a:off x="8862548" y="470615"/>
            <a:ext cx="2708821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pic>
        <p:nvPicPr>
          <p:cNvPr id="441" name="Galeria obrazków" descr="Galeria obrazkó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646" y="1730376"/>
            <a:ext cx="2794002" cy="3563365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Podtytuł 4"/>
          <p:cNvSpPr txBox="1"/>
          <p:nvPr/>
        </p:nvSpPr>
        <p:spPr>
          <a:xfrm>
            <a:off x="1388500" y="1602639"/>
            <a:ext cx="7406531" cy="5180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 defTabSz="320038">
              <a:spcBef>
                <a:spcPts val="800"/>
              </a:spcBef>
              <a:defRPr sz="1100" b="1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Support for Depositing Research Data in the Bridge of Data Repository </a:t>
            </a:r>
          </a:p>
          <a:p>
            <a:pPr defTabSz="320038">
              <a:spcBef>
                <a:spcPts val="800"/>
              </a:spcBef>
              <a:defRPr sz="1100" b="1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Open Research Data Catalogue)</a:t>
            </a:r>
          </a:p>
          <a:p>
            <a:pPr marL="320038" indent="-222250" defTabSz="320038">
              <a:spcBef>
                <a:spcPts val="800"/>
              </a:spcBef>
              <a:buSzPct val="100000"/>
              <a:buFont typeface="Times Roman"/>
              <a:buChar char="•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Assistance with:</a:t>
            </a:r>
          </a:p>
          <a:p>
            <a:pPr marL="640079" lvl="1" indent="-222250" defTabSz="320038">
              <a:spcBef>
                <a:spcPts val="800"/>
              </a:spcBef>
              <a:buSzPct val="100000"/>
              <a:buFont typeface="Times Roman"/>
              <a:buChar char="◦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Creating metadata for datasets,</a:t>
            </a:r>
          </a:p>
          <a:p>
            <a:pPr marL="640079" lvl="1" indent="-222250" defTabSz="320038">
              <a:spcBef>
                <a:spcPts val="800"/>
              </a:spcBef>
              <a:buSzPct val="100000"/>
              <a:buFont typeface="Times Roman"/>
              <a:buChar char="◦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Selecting the appropriate license,</a:t>
            </a:r>
          </a:p>
          <a:p>
            <a:pPr marL="640079" lvl="1" indent="-222250" defTabSz="320038">
              <a:spcBef>
                <a:spcPts val="800"/>
              </a:spcBef>
              <a:buSzPct val="100000"/>
              <a:buFont typeface="Times Roman"/>
              <a:buChar char="◦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Preparing data for public access,</a:t>
            </a:r>
          </a:p>
          <a:p>
            <a:pPr marL="640079" lvl="1" indent="-222250" defTabSz="320038">
              <a:spcBef>
                <a:spcPts val="800"/>
              </a:spcBef>
              <a:buSzPct val="100000"/>
              <a:buFont typeface="Times Roman"/>
              <a:buChar char="◦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Adding new versions of datasets,</a:t>
            </a:r>
          </a:p>
          <a:p>
            <a:pPr marL="640079" lvl="1" indent="-222250" defTabSz="320038">
              <a:spcBef>
                <a:spcPts val="800"/>
              </a:spcBef>
              <a:buSzPct val="100000"/>
              <a:buFont typeface="Times Roman"/>
              <a:buChar char="◦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Grouping datasets into collections.</a:t>
            </a:r>
          </a:p>
          <a:p>
            <a:pPr marL="320038" indent="-222250" defTabSz="320038">
              <a:spcBef>
                <a:spcPts val="800"/>
              </a:spcBef>
              <a:buSzPct val="100000"/>
              <a:buFont typeface="Times Roman"/>
              <a:buChar char="•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Assessment of submitted datasets to ensure metadata completeness and quality.</a:t>
            </a:r>
          </a:p>
          <a:p>
            <a:pPr marL="320038" indent="-222250" defTabSz="320038">
              <a:spcBef>
                <a:spcPts val="800"/>
              </a:spcBef>
              <a:buSzPct val="100000"/>
              <a:buFont typeface="Times Roman"/>
              <a:buChar char="•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Approval of verified datasets for publication in the repository.</a:t>
            </a:r>
          </a:p>
          <a:p>
            <a:pPr marL="320038" indent="-222250" defTabSz="320038">
              <a:spcBef>
                <a:spcPts val="800"/>
              </a:spcBef>
              <a:buSzPct val="100000"/>
              <a:buFont typeface="Times Roman"/>
              <a:buChar char="•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Contribution to improving repository services and functionalities through:</a:t>
            </a:r>
          </a:p>
          <a:p>
            <a:pPr marL="640079" lvl="1" indent="-222250" defTabSz="320038">
              <a:spcBef>
                <a:spcPts val="800"/>
              </a:spcBef>
              <a:buSzPct val="100000"/>
              <a:buFont typeface="Times Roman"/>
              <a:buChar char="◦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Collaboration with the IT department,</a:t>
            </a:r>
          </a:p>
          <a:p>
            <a:pPr marL="640079" lvl="1" indent="-222250" defTabSz="320038">
              <a:spcBef>
                <a:spcPts val="800"/>
              </a:spcBef>
              <a:buSzPct val="100000"/>
              <a:buFont typeface="Times Roman"/>
              <a:buChar char="◦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Preparation of user guidelines and instructions,</a:t>
            </a:r>
          </a:p>
          <a:p>
            <a:pPr marL="640079" lvl="1" indent="-222250" defTabSz="320038">
              <a:spcBef>
                <a:spcPts val="800"/>
              </a:spcBef>
              <a:buSzPct val="100000"/>
              <a:buFont typeface="Times Roman"/>
              <a:buChar char="◦"/>
              <a:defRPr sz="1100">
                <a:solidFill>
                  <a:schemeClr val="accent2">
                    <a:lumOff val="-4039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Participation in the certification processes (e.g., CoreTrustSeal quality certification).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6186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rostokąt 2"/>
          <p:cNvSpPr/>
          <p:nvPr/>
        </p:nvSpPr>
        <p:spPr>
          <a:xfrm>
            <a:off x="5671391" y="5998605"/>
            <a:ext cx="5310936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45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46" name="Prostokąt 9"/>
          <p:cNvSpPr txBox="1"/>
          <p:nvPr/>
        </p:nvSpPr>
        <p:spPr>
          <a:xfrm>
            <a:off x="8862548" y="470615"/>
            <a:ext cx="2708821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grpSp>
        <p:nvGrpSpPr>
          <p:cNvPr id="449" name="Galeria obrazków"/>
          <p:cNvGrpSpPr/>
          <p:nvPr/>
        </p:nvGrpSpPr>
        <p:grpSpPr>
          <a:xfrm>
            <a:off x="-22832" y="1220682"/>
            <a:ext cx="9189665" cy="6214662"/>
            <a:chOff x="0" y="0"/>
            <a:chExt cx="9189664" cy="6214661"/>
          </a:xfrm>
        </p:grpSpPr>
        <p:pic>
          <p:nvPicPr>
            <p:cNvPr id="447" name="Zrzut ekranu 2025-04-28 o 21.23.00.png" descr="Zrzut ekranu 2025-04-28 o 21.23.00.png"/>
            <p:cNvPicPr>
              <a:picLocks noChangeAspect="1"/>
            </p:cNvPicPr>
            <p:nvPr/>
          </p:nvPicPr>
          <p:blipFill>
            <a:blip r:embed="rId3"/>
            <a:srcRect l="976" r="975"/>
            <a:stretch>
              <a:fillRect/>
            </a:stretch>
          </p:blipFill>
          <p:spPr>
            <a:xfrm>
              <a:off x="0" y="-1"/>
              <a:ext cx="9189665" cy="56139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8" name="Podpis"/>
            <p:cNvSpPr txBox="1"/>
            <p:nvPr/>
          </p:nvSpPr>
          <p:spPr>
            <a:xfrm>
              <a:off x="0" y="5782860"/>
              <a:ext cx="9189665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>
                <a:defRPr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t>Podpis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rostokąt 2"/>
          <p:cNvSpPr/>
          <p:nvPr/>
        </p:nvSpPr>
        <p:spPr>
          <a:xfrm>
            <a:off x="5671391" y="5998605"/>
            <a:ext cx="5310936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2" name="pole tekstowe 3"/>
          <p:cNvSpPr txBox="1"/>
          <p:nvPr/>
        </p:nvSpPr>
        <p:spPr>
          <a:xfrm>
            <a:off x="5824992" y="5979554"/>
            <a:ext cx="4997313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https://pg.edu.pl/en/gdansk-tech-library</a:t>
            </a:r>
          </a:p>
        </p:txBody>
      </p:sp>
      <p:pic>
        <p:nvPicPr>
          <p:cNvPr id="453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Prostokąt 9"/>
          <p:cNvSpPr txBox="1"/>
          <p:nvPr/>
        </p:nvSpPr>
        <p:spPr>
          <a:xfrm>
            <a:off x="8862548" y="470615"/>
            <a:ext cx="2708821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sp>
        <p:nvSpPr>
          <p:cNvPr id="455" name="Key Projects Supporting Open Science and FAIR Data in Poland…"/>
          <p:cNvSpPr txBox="1"/>
          <p:nvPr/>
        </p:nvSpPr>
        <p:spPr>
          <a:xfrm>
            <a:off x="327323" y="2366623"/>
            <a:ext cx="12180502" cy="3617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sz="1400" b="1">
                <a:latin typeface="Arial"/>
                <a:ea typeface="Arial"/>
                <a:cs typeface="Arial"/>
                <a:sym typeface="Arial"/>
              </a:defRPr>
            </a:pPr>
            <a:r>
              <a:t>Key Projects Supporting Open Science and FAIR Data in Poland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Interdisciplinary Data Sharing Standards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The project </a:t>
            </a:r>
            <a:r>
              <a:rPr i="1"/>
              <a:t>“Data practices in an interdisciplinary perspective”</a:t>
            </a:r>
            <a:r>
              <a:t> analyzes data sharing challenges and workflows in architecture, civil engineering, economics, and NLP.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It contributes to the RDA knowledge base by comparing data practices across disciplines, including social aspects and metadata standards.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2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Integration with the EOSC Portal and FAIR-IMPACT Support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The MOST WIEDZY Open Research Data Catalog is being integrated into the EOSC Marketplace.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Through the FAIR-IMPACT open call, researchers will assess and improve the FAIRness of their datasets using tools like F-UJI, FOOPS, and FAIR Maturity Models.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2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Creating Persistent Identifier (PID) Policies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As part of EOSC-aligned activities, efforts are made to develop and self-assess PID policies using the FAIRCORE4EOSC Compliance Assessment Toolkit.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This fosters consistency and interoperability in research output identification.</a:t>
            </a:r>
          </a:p>
        </p:txBody>
      </p:sp>
      <p:pic>
        <p:nvPicPr>
          <p:cNvPr id="456" name="Zrzut ekranu 2025-05-19 o 10.58.23.png" descr="Zrzut ekranu 2025-05-19 o 10.58.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465" y="1486972"/>
            <a:ext cx="3602646" cy="1101703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" name="Zrzut ekranu 2025-05-19 o 10.59.13.png" descr="Zrzut ekranu 2025-05-19 o 10.59.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074" y="1029015"/>
            <a:ext cx="4221097" cy="12330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rostokąt 2"/>
          <p:cNvSpPr/>
          <p:nvPr/>
        </p:nvSpPr>
        <p:spPr>
          <a:xfrm>
            <a:off x="5671391" y="5998605"/>
            <a:ext cx="5310936" cy="3385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0" name="pole tekstowe 3"/>
          <p:cNvSpPr txBox="1"/>
          <p:nvPr/>
        </p:nvSpPr>
        <p:spPr>
          <a:xfrm>
            <a:off x="5824992" y="5979554"/>
            <a:ext cx="4997313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https://pg.edu.pl/en/gdansk-tech-library</a:t>
            </a:r>
          </a:p>
        </p:txBody>
      </p:sp>
      <p:pic>
        <p:nvPicPr>
          <p:cNvPr id="461" name="Picture 12" descr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" y="18002"/>
            <a:ext cx="3857087" cy="1401498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Prostokąt 9"/>
          <p:cNvSpPr txBox="1"/>
          <p:nvPr/>
        </p:nvSpPr>
        <p:spPr>
          <a:xfrm>
            <a:off x="8862548" y="470615"/>
            <a:ext cx="2708821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9th Erasmus Staff Training Week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Gdańsk Tech Library </a:t>
            </a:r>
          </a:p>
          <a:p>
            <a:pPr algn="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2025</a:t>
            </a:r>
          </a:p>
        </p:txBody>
      </p:sp>
      <p:sp>
        <p:nvSpPr>
          <p:cNvPr id="463" name="Promoting Open Research Data at Gdańsk University of Technology - Excellence initiative - research university (IDUB)…"/>
          <p:cNvSpPr txBox="1"/>
          <p:nvPr/>
        </p:nvSpPr>
        <p:spPr>
          <a:xfrm>
            <a:off x="1226051" y="3059612"/>
            <a:ext cx="9938332" cy="2245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4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Promoting Open Research Data at Gdańsk University of Technology - Excellence initiative - research university (IDUB)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A dedicated initiative aims to raise awareness and skills in data publishing among researchers and PhD students.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Key focus: training data stewards to support disciplines and boost the visibility and quality of research.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4"/>
              <a:defRPr sz="1200" b="1">
                <a:latin typeface="Arial"/>
                <a:ea typeface="Arial"/>
                <a:cs typeface="Arial"/>
                <a:sym typeface="Arial"/>
              </a:defRPr>
            </a:pPr>
            <a:r>
              <a:t>FIDELIS – Network of Trustworthy Digital Repositories</a:t>
            </a:r>
            <a:endParaRPr b="0"/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Under Horizon Europe (2025–2027), the FIDELIS project will create a sustainable network of EOSC-aligned trustworthy repositories.</a:t>
            </a:r>
          </a:p>
          <a:p>
            <a:pPr marL="914400" lvl="1" indent="-317500" defTabSz="457200">
              <a:spcBef>
                <a:spcPts val="1200"/>
              </a:spcBef>
              <a:buSzPct val="100000"/>
              <a:buFont typeface="Times Roman"/>
              <a:buChar char="◦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Gdańsk University of Technology leads training and mentoring efforts for repository development across Europe.</a:t>
            </a:r>
          </a:p>
        </p:txBody>
      </p:sp>
      <p:pic>
        <p:nvPicPr>
          <p:cNvPr id="464" name="Zrzut ekranu 2025-05-19 o 10.56.53.png" descr="Zrzut ekranu 2025-05-19 o 10.56.53.png"/>
          <p:cNvPicPr>
            <a:picLocks noChangeAspect="1"/>
          </p:cNvPicPr>
          <p:nvPr/>
        </p:nvPicPr>
        <p:blipFill>
          <a:blip r:embed="rId3"/>
          <a:srcRect r="26" b="33480"/>
          <a:stretch>
            <a:fillRect/>
          </a:stretch>
        </p:blipFill>
        <p:spPr>
          <a:xfrm>
            <a:off x="2325293" y="1445250"/>
            <a:ext cx="5840442" cy="9208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Łącznik prosty 4"/>
          <p:cNvSpPr/>
          <p:nvPr/>
        </p:nvSpPr>
        <p:spPr>
          <a:xfrm flipV="1">
            <a:off x="6086539" y="3035809"/>
            <a:ext cx="1" cy="541325"/>
          </a:xfrm>
          <a:prstGeom prst="line">
            <a:avLst/>
          </a:prstGeom>
          <a:ln w="6350">
            <a:solidFill>
              <a:srgbClr val="C0000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7" name="Symbol zastępczy tekstu 2"/>
          <p:cNvSpPr txBox="1"/>
          <p:nvPr/>
        </p:nvSpPr>
        <p:spPr>
          <a:xfrm>
            <a:off x="2255661" y="3979881"/>
            <a:ext cx="7795260" cy="1333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28600" indent="-228600" algn="ctr">
              <a:lnSpc>
                <a:spcPct val="90000"/>
              </a:lnSpc>
              <a:spcBef>
                <a:spcPts val="1000"/>
              </a:spcBef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History is wisdom – future is challenge</a:t>
            </a:r>
          </a:p>
          <a:p>
            <a:pPr marL="228600" indent="-228600" algn="ctr">
              <a:lnSpc>
                <a:spcPct val="90000"/>
              </a:lnSpc>
              <a:spcBef>
                <a:spcPts val="1000"/>
              </a:spcBef>
              <a:defRPr sz="2400"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228600" indent="-228600" algn="ctr">
              <a:lnSpc>
                <a:spcPct val="90000"/>
              </a:lnSpc>
              <a:spcBef>
                <a:spcPts val="1000"/>
              </a:spcBef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t>Thank you </a:t>
            </a:r>
          </a:p>
        </p:txBody>
      </p:sp>
      <p:pic>
        <p:nvPicPr>
          <p:cNvPr id="468" name="Obraz 5" descr="Obraz 5"/>
          <p:cNvPicPr>
            <a:picLocks noChangeAspect="1"/>
          </p:cNvPicPr>
          <p:nvPr/>
        </p:nvPicPr>
        <p:blipFill>
          <a:blip r:embed="rId2"/>
          <a:srcRect l="29405" t="24848" r="28434" b="35878"/>
          <a:stretch>
            <a:fillRect/>
          </a:stretch>
        </p:blipFill>
        <p:spPr>
          <a:xfrm>
            <a:off x="4441464" y="819150"/>
            <a:ext cx="2994024" cy="1971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G">
  <a:themeElements>
    <a:clrScheme name="PG">
      <a:dk1>
        <a:srgbClr val="003767"/>
      </a:dk1>
      <a:lt1>
        <a:srgbClr val="FFFFFF"/>
      </a:lt1>
      <a:dk2>
        <a:srgbClr val="A7A7A7"/>
      </a:dk2>
      <a:lt2>
        <a:srgbClr val="535353"/>
      </a:lt2>
      <a:accent1>
        <a:srgbClr val="E31B23"/>
      </a:accent1>
      <a:accent2>
        <a:srgbClr val="003767"/>
      </a:accent2>
      <a:accent3>
        <a:srgbClr val="B9DEFF"/>
      </a:accent3>
      <a:accent4>
        <a:srgbClr val="737577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PG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P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SanukPro-Light"/>
            <a:ea typeface="SanukPro-Light"/>
            <a:cs typeface="SanukPro-Light"/>
            <a:sym typeface="SanukPro-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SanukPro-Light"/>
            <a:ea typeface="SanukPro-Light"/>
            <a:cs typeface="SanukPro-Light"/>
            <a:sym typeface="SanukPro-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PG">
  <a:themeElements>
    <a:clrScheme name="PG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31B23"/>
      </a:accent1>
      <a:accent2>
        <a:srgbClr val="003767"/>
      </a:accent2>
      <a:accent3>
        <a:srgbClr val="B9DEFF"/>
      </a:accent3>
      <a:accent4>
        <a:srgbClr val="737577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PG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P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SanukPro-Light"/>
            <a:ea typeface="SanukPro-Light"/>
            <a:cs typeface="SanukPro-Light"/>
            <a:sym typeface="SanukPro-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SanukPro-Light"/>
            <a:ea typeface="SanukPro-Light"/>
            <a:cs typeface="SanukPro-Light"/>
            <a:sym typeface="SanukPro-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Panoramiczny</PresentationFormat>
  <Slides>13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4" baseType="lpstr">
      <vt:lpstr>PG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2025-05-20T06:31:24Z</dcterms:modified>
</cp:coreProperties>
</file>